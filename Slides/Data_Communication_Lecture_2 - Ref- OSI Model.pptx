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74" r:id="rId4"/>
    <p:sldId id="272" r:id="rId5"/>
    <p:sldId id="265" r:id="rId6"/>
    <p:sldId id="266" r:id="rId7"/>
    <p:sldId id="267" r:id="rId8"/>
    <p:sldId id="260" r:id="rId9"/>
    <p:sldId id="269" r:id="rId10"/>
    <p:sldId id="259" r:id="rId11"/>
    <p:sldId id="270" r:id="rId12"/>
    <p:sldId id="258" r:id="rId13"/>
    <p:sldId id="271" r:id="rId14"/>
    <p:sldId id="257" r:id="rId15"/>
    <p:sldId id="262" r:id="rId16"/>
    <p:sldId id="263" r:id="rId17"/>
    <p:sldId id="273" r:id="rId18"/>
    <p:sldId id="2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5:27:10.470"/>
    </inkml:context>
    <inkml:brush xml:id="br0">
      <inkml:brushProperty name="width" value="0.1" units="cm"/>
      <inkml:brushProperty name="height" value="0.1" units="cm"/>
      <inkml:brushProperty name="color" value="#E71224"/>
    </inkml:brush>
  </inkml:definitions>
  <inkml:trace contextRef="#ctx0" brushRef="#br0">11 1 24575,'-10'0'0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5:27:20.520"/>
    </inkml:context>
    <inkml:brush xml:id="br0">
      <inkml:brushProperty name="width" value="0.1" units="cm"/>
      <inkml:brushProperty name="height" value="0.1" units="cm"/>
      <inkml:brushProperty name="color" value="#E71224"/>
    </inkml:brush>
  </inkml:definitions>
  <inkml:trace contextRef="#ctx0" brushRef="#br0">1 0 24575,'0'0'-8191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ADAE5-F093-D02F-4322-AE751878C6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AB5B953-A243-4721-9A88-E17717C333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531BB81-549E-E307-65E9-C5564593B737}"/>
              </a:ext>
            </a:extLst>
          </p:cNvPr>
          <p:cNvSpPr>
            <a:spLocks noGrp="1"/>
          </p:cNvSpPr>
          <p:nvPr>
            <p:ph type="dt" sz="half" idx="10"/>
          </p:nvPr>
        </p:nvSpPr>
        <p:spPr/>
        <p:txBody>
          <a:bodyPr/>
          <a:lstStyle/>
          <a:p>
            <a:fld id="{4021809A-117C-4CF3-87E3-647B3403F9E1}" type="datetimeFigureOut">
              <a:rPr lang="en-US" smtClean="0"/>
              <a:t>3/6/2025</a:t>
            </a:fld>
            <a:endParaRPr lang="en-US"/>
          </a:p>
        </p:txBody>
      </p:sp>
      <p:sp>
        <p:nvSpPr>
          <p:cNvPr id="5" name="Footer Placeholder 4">
            <a:extLst>
              <a:ext uri="{FF2B5EF4-FFF2-40B4-BE49-F238E27FC236}">
                <a16:creationId xmlns:a16="http://schemas.microsoft.com/office/drawing/2014/main" id="{37352D58-835C-257B-C7BF-919F195C72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E17F93-D876-EB12-4FEB-930F714A2684}"/>
              </a:ext>
            </a:extLst>
          </p:cNvPr>
          <p:cNvSpPr>
            <a:spLocks noGrp="1"/>
          </p:cNvSpPr>
          <p:nvPr>
            <p:ph type="sldNum" sz="quarter" idx="12"/>
          </p:nvPr>
        </p:nvSpPr>
        <p:spPr/>
        <p:txBody>
          <a:bodyPr/>
          <a:lstStyle/>
          <a:p>
            <a:fld id="{44B84C56-CFF3-4A1F-92F9-B3E23DFD2F75}" type="slidenum">
              <a:rPr lang="en-US" smtClean="0"/>
              <a:t>‹#›</a:t>
            </a:fld>
            <a:endParaRPr lang="en-US"/>
          </a:p>
        </p:txBody>
      </p:sp>
    </p:spTree>
    <p:extLst>
      <p:ext uri="{BB962C8B-B14F-4D97-AF65-F5344CB8AC3E}">
        <p14:creationId xmlns:p14="http://schemas.microsoft.com/office/powerpoint/2010/main" val="1894362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AFA79-EC53-6222-BB1C-0BA4BBF836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73F5CD-32DD-AB5C-7A6E-1D9C5B354A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7675FB-36B0-FD80-FA58-34549DD7DEA4}"/>
              </a:ext>
            </a:extLst>
          </p:cNvPr>
          <p:cNvSpPr>
            <a:spLocks noGrp="1"/>
          </p:cNvSpPr>
          <p:nvPr>
            <p:ph type="dt" sz="half" idx="10"/>
          </p:nvPr>
        </p:nvSpPr>
        <p:spPr/>
        <p:txBody>
          <a:bodyPr/>
          <a:lstStyle/>
          <a:p>
            <a:fld id="{4021809A-117C-4CF3-87E3-647B3403F9E1}" type="datetimeFigureOut">
              <a:rPr lang="en-US" smtClean="0"/>
              <a:t>3/6/2025</a:t>
            </a:fld>
            <a:endParaRPr lang="en-US"/>
          </a:p>
        </p:txBody>
      </p:sp>
      <p:sp>
        <p:nvSpPr>
          <p:cNvPr id="5" name="Footer Placeholder 4">
            <a:extLst>
              <a:ext uri="{FF2B5EF4-FFF2-40B4-BE49-F238E27FC236}">
                <a16:creationId xmlns:a16="http://schemas.microsoft.com/office/drawing/2014/main" id="{F35ABE43-E007-D182-6506-024B9C81E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10CFD8-344D-BBF0-0514-D073161AE5E7}"/>
              </a:ext>
            </a:extLst>
          </p:cNvPr>
          <p:cNvSpPr>
            <a:spLocks noGrp="1"/>
          </p:cNvSpPr>
          <p:nvPr>
            <p:ph type="sldNum" sz="quarter" idx="12"/>
          </p:nvPr>
        </p:nvSpPr>
        <p:spPr/>
        <p:txBody>
          <a:bodyPr/>
          <a:lstStyle/>
          <a:p>
            <a:fld id="{44B84C56-CFF3-4A1F-92F9-B3E23DFD2F75}" type="slidenum">
              <a:rPr lang="en-US" smtClean="0"/>
              <a:t>‹#›</a:t>
            </a:fld>
            <a:endParaRPr lang="en-US"/>
          </a:p>
        </p:txBody>
      </p:sp>
    </p:spTree>
    <p:extLst>
      <p:ext uri="{BB962C8B-B14F-4D97-AF65-F5344CB8AC3E}">
        <p14:creationId xmlns:p14="http://schemas.microsoft.com/office/powerpoint/2010/main" val="1413375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C37B1-EF13-B9B8-1374-D2452CE83C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1C2AF89-083F-993E-1C2F-C455959E60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4E44E9-B334-3E60-069B-A94517422B06}"/>
              </a:ext>
            </a:extLst>
          </p:cNvPr>
          <p:cNvSpPr>
            <a:spLocks noGrp="1"/>
          </p:cNvSpPr>
          <p:nvPr>
            <p:ph type="dt" sz="half" idx="10"/>
          </p:nvPr>
        </p:nvSpPr>
        <p:spPr/>
        <p:txBody>
          <a:bodyPr/>
          <a:lstStyle/>
          <a:p>
            <a:fld id="{4021809A-117C-4CF3-87E3-647B3403F9E1}" type="datetimeFigureOut">
              <a:rPr lang="en-US" smtClean="0"/>
              <a:t>3/6/2025</a:t>
            </a:fld>
            <a:endParaRPr lang="en-US"/>
          </a:p>
        </p:txBody>
      </p:sp>
      <p:sp>
        <p:nvSpPr>
          <p:cNvPr id="5" name="Footer Placeholder 4">
            <a:extLst>
              <a:ext uri="{FF2B5EF4-FFF2-40B4-BE49-F238E27FC236}">
                <a16:creationId xmlns:a16="http://schemas.microsoft.com/office/drawing/2014/main" id="{1EDBA24C-3952-3029-07F7-B4B172E618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86DF0A-D6ED-22A0-B6B8-149C9F2CBA17}"/>
              </a:ext>
            </a:extLst>
          </p:cNvPr>
          <p:cNvSpPr>
            <a:spLocks noGrp="1"/>
          </p:cNvSpPr>
          <p:nvPr>
            <p:ph type="sldNum" sz="quarter" idx="12"/>
          </p:nvPr>
        </p:nvSpPr>
        <p:spPr/>
        <p:txBody>
          <a:bodyPr/>
          <a:lstStyle/>
          <a:p>
            <a:fld id="{44B84C56-CFF3-4A1F-92F9-B3E23DFD2F75}" type="slidenum">
              <a:rPr lang="en-US" smtClean="0"/>
              <a:t>‹#›</a:t>
            </a:fld>
            <a:endParaRPr lang="en-US"/>
          </a:p>
        </p:txBody>
      </p:sp>
    </p:spTree>
    <p:extLst>
      <p:ext uri="{BB962C8B-B14F-4D97-AF65-F5344CB8AC3E}">
        <p14:creationId xmlns:p14="http://schemas.microsoft.com/office/powerpoint/2010/main" val="1475560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56E46-40E5-188C-F931-05B9DCAAC1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F5442E-15C8-8E3A-F191-FDD3696C43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3C2F185-9F0E-B895-AA48-EC0DBF760F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C9FB12-2AD6-A0F0-BE0B-770483BA9029}"/>
              </a:ext>
            </a:extLst>
          </p:cNvPr>
          <p:cNvSpPr>
            <a:spLocks noGrp="1"/>
          </p:cNvSpPr>
          <p:nvPr>
            <p:ph type="dt" sz="half" idx="10"/>
          </p:nvPr>
        </p:nvSpPr>
        <p:spPr/>
        <p:txBody>
          <a:bodyPr/>
          <a:lstStyle/>
          <a:p>
            <a:fld id="{4021809A-117C-4CF3-87E3-647B3403F9E1}" type="datetimeFigureOut">
              <a:rPr lang="en-US" smtClean="0"/>
              <a:t>3/6/2025</a:t>
            </a:fld>
            <a:endParaRPr lang="en-US"/>
          </a:p>
        </p:txBody>
      </p:sp>
      <p:sp>
        <p:nvSpPr>
          <p:cNvPr id="6" name="Footer Placeholder 5">
            <a:extLst>
              <a:ext uri="{FF2B5EF4-FFF2-40B4-BE49-F238E27FC236}">
                <a16:creationId xmlns:a16="http://schemas.microsoft.com/office/drawing/2014/main" id="{49B6EE40-657B-0FF6-5DBB-0C6F59F690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F0EE05-64E9-850E-60B4-C06863B72ABC}"/>
              </a:ext>
            </a:extLst>
          </p:cNvPr>
          <p:cNvSpPr>
            <a:spLocks noGrp="1"/>
          </p:cNvSpPr>
          <p:nvPr>
            <p:ph type="sldNum" sz="quarter" idx="12"/>
          </p:nvPr>
        </p:nvSpPr>
        <p:spPr/>
        <p:txBody>
          <a:bodyPr/>
          <a:lstStyle/>
          <a:p>
            <a:fld id="{44B84C56-CFF3-4A1F-92F9-B3E23DFD2F75}" type="slidenum">
              <a:rPr lang="en-US" smtClean="0"/>
              <a:t>‹#›</a:t>
            </a:fld>
            <a:endParaRPr lang="en-US"/>
          </a:p>
        </p:txBody>
      </p:sp>
    </p:spTree>
    <p:extLst>
      <p:ext uri="{BB962C8B-B14F-4D97-AF65-F5344CB8AC3E}">
        <p14:creationId xmlns:p14="http://schemas.microsoft.com/office/powerpoint/2010/main" val="31136297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DD779-48C4-8B99-1AF5-6C5ED00A46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C1D799C-34E8-E872-9D43-7753D65347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D9DDF8-0AAB-349F-0131-BE5F492C91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5076C1-DFC9-D8CA-0876-BB518E1F66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137B22-D23C-60B4-0F99-0FA0BA73D9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33675F-0027-EB0F-BA15-568956562525}"/>
              </a:ext>
            </a:extLst>
          </p:cNvPr>
          <p:cNvSpPr>
            <a:spLocks noGrp="1"/>
          </p:cNvSpPr>
          <p:nvPr>
            <p:ph type="dt" sz="half" idx="10"/>
          </p:nvPr>
        </p:nvSpPr>
        <p:spPr/>
        <p:txBody>
          <a:bodyPr/>
          <a:lstStyle/>
          <a:p>
            <a:fld id="{4021809A-117C-4CF3-87E3-647B3403F9E1}" type="datetimeFigureOut">
              <a:rPr lang="en-US" smtClean="0"/>
              <a:t>3/6/2025</a:t>
            </a:fld>
            <a:endParaRPr lang="en-US"/>
          </a:p>
        </p:txBody>
      </p:sp>
      <p:sp>
        <p:nvSpPr>
          <p:cNvPr id="8" name="Footer Placeholder 7">
            <a:extLst>
              <a:ext uri="{FF2B5EF4-FFF2-40B4-BE49-F238E27FC236}">
                <a16:creationId xmlns:a16="http://schemas.microsoft.com/office/drawing/2014/main" id="{92F92B87-295B-9711-698C-2A14252CD1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3FEED04-CA8C-A564-E64B-1A6754E52B8D}"/>
              </a:ext>
            </a:extLst>
          </p:cNvPr>
          <p:cNvSpPr>
            <a:spLocks noGrp="1"/>
          </p:cNvSpPr>
          <p:nvPr>
            <p:ph type="sldNum" sz="quarter" idx="12"/>
          </p:nvPr>
        </p:nvSpPr>
        <p:spPr/>
        <p:txBody>
          <a:bodyPr/>
          <a:lstStyle/>
          <a:p>
            <a:fld id="{44B84C56-CFF3-4A1F-92F9-B3E23DFD2F75}" type="slidenum">
              <a:rPr lang="en-US" smtClean="0"/>
              <a:t>‹#›</a:t>
            </a:fld>
            <a:endParaRPr lang="en-US"/>
          </a:p>
        </p:txBody>
      </p:sp>
    </p:spTree>
    <p:extLst>
      <p:ext uri="{BB962C8B-B14F-4D97-AF65-F5344CB8AC3E}">
        <p14:creationId xmlns:p14="http://schemas.microsoft.com/office/powerpoint/2010/main" val="1191655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6C209-AC95-92C5-36F7-953C2572F6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D691AF-3426-61F1-C5E7-C53D537BD385}"/>
              </a:ext>
            </a:extLst>
          </p:cNvPr>
          <p:cNvSpPr>
            <a:spLocks noGrp="1"/>
          </p:cNvSpPr>
          <p:nvPr>
            <p:ph type="dt" sz="half" idx="10"/>
          </p:nvPr>
        </p:nvSpPr>
        <p:spPr/>
        <p:txBody>
          <a:bodyPr/>
          <a:lstStyle/>
          <a:p>
            <a:fld id="{4021809A-117C-4CF3-87E3-647B3403F9E1}" type="datetimeFigureOut">
              <a:rPr lang="en-US" smtClean="0"/>
              <a:t>3/6/2025</a:t>
            </a:fld>
            <a:endParaRPr lang="en-US"/>
          </a:p>
        </p:txBody>
      </p:sp>
      <p:sp>
        <p:nvSpPr>
          <p:cNvPr id="4" name="Footer Placeholder 3">
            <a:extLst>
              <a:ext uri="{FF2B5EF4-FFF2-40B4-BE49-F238E27FC236}">
                <a16:creationId xmlns:a16="http://schemas.microsoft.com/office/drawing/2014/main" id="{5173AD6F-2163-C390-17A8-7B2FE8D374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5BA5EB4-2F11-D3BC-0443-75729B4C95AC}"/>
              </a:ext>
            </a:extLst>
          </p:cNvPr>
          <p:cNvSpPr>
            <a:spLocks noGrp="1"/>
          </p:cNvSpPr>
          <p:nvPr>
            <p:ph type="sldNum" sz="quarter" idx="12"/>
          </p:nvPr>
        </p:nvSpPr>
        <p:spPr/>
        <p:txBody>
          <a:bodyPr/>
          <a:lstStyle/>
          <a:p>
            <a:fld id="{44B84C56-CFF3-4A1F-92F9-B3E23DFD2F75}" type="slidenum">
              <a:rPr lang="en-US" smtClean="0"/>
              <a:t>‹#›</a:t>
            </a:fld>
            <a:endParaRPr lang="en-US"/>
          </a:p>
        </p:txBody>
      </p:sp>
    </p:spTree>
    <p:extLst>
      <p:ext uri="{BB962C8B-B14F-4D97-AF65-F5344CB8AC3E}">
        <p14:creationId xmlns:p14="http://schemas.microsoft.com/office/powerpoint/2010/main" val="88069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7F42E6-AE6D-E3F5-4070-A566330E5232}"/>
              </a:ext>
            </a:extLst>
          </p:cNvPr>
          <p:cNvSpPr>
            <a:spLocks noGrp="1"/>
          </p:cNvSpPr>
          <p:nvPr>
            <p:ph type="dt" sz="half" idx="10"/>
          </p:nvPr>
        </p:nvSpPr>
        <p:spPr/>
        <p:txBody>
          <a:bodyPr/>
          <a:lstStyle/>
          <a:p>
            <a:fld id="{4021809A-117C-4CF3-87E3-647B3403F9E1}" type="datetimeFigureOut">
              <a:rPr lang="en-US" smtClean="0"/>
              <a:t>3/6/2025</a:t>
            </a:fld>
            <a:endParaRPr lang="en-US"/>
          </a:p>
        </p:txBody>
      </p:sp>
      <p:sp>
        <p:nvSpPr>
          <p:cNvPr id="3" name="Footer Placeholder 2">
            <a:extLst>
              <a:ext uri="{FF2B5EF4-FFF2-40B4-BE49-F238E27FC236}">
                <a16:creationId xmlns:a16="http://schemas.microsoft.com/office/drawing/2014/main" id="{A2B60E8F-5BF7-7BE9-A9CC-057E745A200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B8B8E2-2EA3-9B15-0184-89225C6CC8A3}"/>
              </a:ext>
            </a:extLst>
          </p:cNvPr>
          <p:cNvSpPr>
            <a:spLocks noGrp="1"/>
          </p:cNvSpPr>
          <p:nvPr>
            <p:ph type="sldNum" sz="quarter" idx="12"/>
          </p:nvPr>
        </p:nvSpPr>
        <p:spPr/>
        <p:txBody>
          <a:bodyPr/>
          <a:lstStyle/>
          <a:p>
            <a:fld id="{44B84C56-CFF3-4A1F-92F9-B3E23DFD2F75}" type="slidenum">
              <a:rPr lang="en-US" smtClean="0"/>
              <a:t>‹#›</a:t>
            </a:fld>
            <a:endParaRPr lang="en-US"/>
          </a:p>
        </p:txBody>
      </p:sp>
    </p:spTree>
    <p:extLst>
      <p:ext uri="{BB962C8B-B14F-4D97-AF65-F5344CB8AC3E}">
        <p14:creationId xmlns:p14="http://schemas.microsoft.com/office/powerpoint/2010/main" val="3409984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DF8D9-C582-2E77-3999-20E2C4049F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B58672E-FF53-0005-15EE-41894E0ED7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A7C5C17-1543-BBD5-6184-A800A84941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835E05-54D1-4FB2-34BE-D34B464CE1E6}"/>
              </a:ext>
            </a:extLst>
          </p:cNvPr>
          <p:cNvSpPr>
            <a:spLocks noGrp="1"/>
          </p:cNvSpPr>
          <p:nvPr>
            <p:ph type="dt" sz="half" idx="10"/>
          </p:nvPr>
        </p:nvSpPr>
        <p:spPr/>
        <p:txBody>
          <a:bodyPr/>
          <a:lstStyle/>
          <a:p>
            <a:fld id="{4021809A-117C-4CF3-87E3-647B3403F9E1}" type="datetimeFigureOut">
              <a:rPr lang="en-US" smtClean="0"/>
              <a:t>3/6/2025</a:t>
            </a:fld>
            <a:endParaRPr lang="en-US"/>
          </a:p>
        </p:txBody>
      </p:sp>
      <p:sp>
        <p:nvSpPr>
          <p:cNvPr id="6" name="Footer Placeholder 5">
            <a:extLst>
              <a:ext uri="{FF2B5EF4-FFF2-40B4-BE49-F238E27FC236}">
                <a16:creationId xmlns:a16="http://schemas.microsoft.com/office/drawing/2014/main" id="{2EBC154B-5245-4E13-E4D9-AACC4B36D5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C53696-2220-974D-3049-F3EBAA4243CE}"/>
              </a:ext>
            </a:extLst>
          </p:cNvPr>
          <p:cNvSpPr>
            <a:spLocks noGrp="1"/>
          </p:cNvSpPr>
          <p:nvPr>
            <p:ph type="sldNum" sz="quarter" idx="12"/>
          </p:nvPr>
        </p:nvSpPr>
        <p:spPr/>
        <p:txBody>
          <a:bodyPr/>
          <a:lstStyle/>
          <a:p>
            <a:fld id="{44B84C56-CFF3-4A1F-92F9-B3E23DFD2F75}" type="slidenum">
              <a:rPr lang="en-US" smtClean="0"/>
              <a:t>‹#›</a:t>
            </a:fld>
            <a:endParaRPr lang="en-US"/>
          </a:p>
        </p:txBody>
      </p:sp>
    </p:spTree>
    <p:extLst>
      <p:ext uri="{BB962C8B-B14F-4D97-AF65-F5344CB8AC3E}">
        <p14:creationId xmlns:p14="http://schemas.microsoft.com/office/powerpoint/2010/main" val="1339164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41187-9F0E-3BB8-5359-988174A185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B58E70-726F-B3EC-6FBC-CBC067B549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0B00F4A-A815-4377-8EA3-730976670D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748D95-57F6-EE05-7F3D-EF7C6AD788F3}"/>
              </a:ext>
            </a:extLst>
          </p:cNvPr>
          <p:cNvSpPr>
            <a:spLocks noGrp="1"/>
          </p:cNvSpPr>
          <p:nvPr>
            <p:ph type="dt" sz="half" idx="10"/>
          </p:nvPr>
        </p:nvSpPr>
        <p:spPr/>
        <p:txBody>
          <a:bodyPr/>
          <a:lstStyle/>
          <a:p>
            <a:fld id="{4021809A-117C-4CF3-87E3-647B3403F9E1}" type="datetimeFigureOut">
              <a:rPr lang="en-US" smtClean="0"/>
              <a:t>3/6/2025</a:t>
            </a:fld>
            <a:endParaRPr lang="en-US"/>
          </a:p>
        </p:txBody>
      </p:sp>
      <p:sp>
        <p:nvSpPr>
          <p:cNvPr id="6" name="Footer Placeholder 5">
            <a:extLst>
              <a:ext uri="{FF2B5EF4-FFF2-40B4-BE49-F238E27FC236}">
                <a16:creationId xmlns:a16="http://schemas.microsoft.com/office/drawing/2014/main" id="{DB8A1A80-95ED-212C-7098-187DC7F5D0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3C3318-8795-E6CA-A297-25064A14A461}"/>
              </a:ext>
            </a:extLst>
          </p:cNvPr>
          <p:cNvSpPr>
            <a:spLocks noGrp="1"/>
          </p:cNvSpPr>
          <p:nvPr>
            <p:ph type="sldNum" sz="quarter" idx="12"/>
          </p:nvPr>
        </p:nvSpPr>
        <p:spPr/>
        <p:txBody>
          <a:bodyPr/>
          <a:lstStyle/>
          <a:p>
            <a:fld id="{44B84C56-CFF3-4A1F-92F9-B3E23DFD2F75}" type="slidenum">
              <a:rPr lang="en-US" smtClean="0"/>
              <a:t>‹#›</a:t>
            </a:fld>
            <a:endParaRPr lang="en-US"/>
          </a:p>
        </p:txBody>
      </p:sp>
    </p:spTree>
    <p:extLst>
      <p:ext uri="{BB962C8B-B14F-4D97-AF65-F5344CB8AC3E}">
        <p14:creationId xmlns:p14="http://schemas.microsoft.com/office/powerpoint/2010/main" val="1329218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DF163-EA1A-5F59-27BB-616C60AFF6E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551BAE8-B86C-9DAD-FC2D-0818E57601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D813C5-7F37-FD00-E575-A3B147D3F970}"/>
              </a:ext>
            </a:extLst>
          </p:cNvPr>
          <p:cNvSpPr>
            <a:spLocks noGrp="1"/>
          </p:cNvSpPr>
          <p:nvPr>
            <p:ph type="dt" sz="half" idx="10"/>
          </p:nvPr>
        </p:nvSpPr>
        <p:spPr/>
        <p:txBody>
          <a:bodyPr/>
          <a:lstStyle/>
          <a:p>
            <a:fld id="{4021809A-117C-4CF3-87E3-647B3403F9E1}" type="datetimeFigureOut">
              <a:rPr lang="en-US" smtClean="0"/>
              <a:t>3/6/2025</a:t>
            </a:fld>
            <a:endParaRPr lang="en-US"/>
          </a:p>
        </p:txBody>
      </p:sp>
      <p:sp>
        <p:nvSpPr>
          <p:cNvPr id="5" name="Footer Placeholder 4">
            <a:extLst>
              <a:ext uri="{FF2B5EF4-FFF2-40B4-BE49-F238E27FC236}">
                <a16:creationId xmlns:a16="http://schemas.microsoft.com/office/drawing/2014/main" id="{7B59ECFD-9697-F830-90F0-D2AF6A2870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F00E5D-92A4-47C7-FD5D-014838A7A93B}"/>
              </a:ext>
            </a:extLst>
          </p:cNvPr>
          <p:cNvSpPr>
            <a:spLocks noGrp="1"/>
          </p:cNvSpPr>
          <p:nvPr>
            <p:ph type="sldNum" sz="quarter" idx="12"/>
          </p:nvPr>
        </p:nvSpPr>
        <p:spPr/>
        <p:txBody>
          <a:bodyPr/>
          <a:lstStyle/>
          <a:p>
            <a:fld id="{44B84C56-CFF3-4A1F-92F9-B3E23DFD2F75}" type="slidenum">
              <a:rPr lang="en-US" smtClean="0"/>
              <a:t>‹#›</a:t>
            </a:fld>
            <a:endParaRPr lang="en-US"/>
          </a:p>
        </p:txBody>
      </p:sp>
    </p:spTree>
    <p:extLst>
      <p:ext uri="{BB962C8B-B14F-4D97-AF65-F5344CB8AC3E}">
        <p14:creationId xmlns:p14="http://schemas.microsoft.com/office/powerpoint/2010/main" val="1077790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44BFD3-D8D3-EB1D-9CFC-134FEAE9E5F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93626C5-22C9-4EAC-EFA0-9CBDA6D47F9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25D114-6879-5A9C-F597-A83BD24CA09F}"/>
              </a:ext>
            </a:extLst>
          </p:cNvPr>
          <p:cNvSpPr>
            <a:spLocks noGrp="1"/>
          </p:cNvSpPr>
          <p:nvPr>
            <p:ph type="dt" sz="half" idx="10"/>
          </p:nvPr>
        </p:nvSpPr>
        <p:spPr/>
        <p:txBody>
          <a:bodyPr/>
          <a:lstStyle/>
          <a:p>
            <a:fld id="{4021809A-117C-4CF3-87E3-647B3403F9E1}" type="datetimeFigureOut">
              <a:rPr lang="en-US" smtClean="0"/>
              <a:t>3/6/2025</a:t>
            </a:fld>
            <a:endParaRPr lang="en-US"/>
          </a:p>
        </p:txBody>
      </p:sp>
      <p:sp>
        <p:nvSpPr>
          <p:cNvPr id="5" name="Footer Placeholder 4">
            <a:extLst>
              <a:ext uri="{FF2B5EF4-FFF2-40B4-BE49-F238E27FC236}">
                <a16:creationId xmlns:a16="http://schemas.microsoft.com/office/drawing/2014/main" id="{96C55D8E-943B-5D07-E2E9-53788564FA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EA8BDE-C7CC-80B2-27D2-2072CBF2DDD2}"/>
              </a:ext>
            </a:extLst>
          </p:cNvPr>
          <p:cNvSpPr>
            <a:spLocks noGrp="1"/>
          </p:cNvSpPr>
          <p:nvPr>
            <p:ph type="sldNum" sz="quarter" idx="12"/>
          </p:nvPr>
        </p:nvSpPr>
        <p:spPr/>
        <p:txBody>
          <a:bodyPr/>
          <a:lstStyle/>
          <a:p>
            <a:fld id="{44B84C56-CFF3-4A1F-92F9-B3E23DFD2F75}" type="slidenum">
              <a:rPr lang="en-US" smtClean="0"/>
              <a:t>‹#›</a:t>
            </a:fld>
            <a:endParaRPr lang="en-US"/>
          </a:p>
        </p:txBody>
      </p:sp>
    </p:spTree>
    <p:extLst>
      <p:ext uri="{BB962C8B-B14F-4D97-AF65-F5344CB8AC3E}">
        <p14:creationId xmlns:p14="http://schemas.microsoft.com/office/powerpoint/2010/main" val="2576868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4EA81C-D121-0764-B134-E0C16380FB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3CC2CCC-07DC-B4CF-A821-0437856477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B3E29F-B875-F800-7FA4-2AAF9388CA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21809A-117C-4CF3-87E3-647B3403F9E1}" type="datetimeFigureOut">
              <a:rPr lang="en-US" smtClean="0"/>
              <a:t>3/6/2025</a:t>
            </a:fld>
            <a:endParaRPr lang="en-US"/>
          </a:p>
        </p:txBody>
      </p:sp>
      <p:sp>
        <p:nvSpPr>
          <p:cNvPr id="5" name="Footer Placeholder 4">
            <a:extLst>
              <a:ext uri="{FF2B5EF4-FFF2-40B4-BE49-F238E27FC236}">
                <a16:creationId xmlns:a16="http://schemas.microsoft.com/office/drawing/2014/main" id="{62580ADC-1DF6-40D9-6912-A69D4A270E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AF7A9CD-70CF-E126-125F-A8169FE04D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B84C56-CFF3-4A1F-92F9-B3E23DFD2F75}" type="slidenum">
              <a:rPr lang="en-US" smtClean="0"/>
              <a:t>‹#›</a:t>
            </a:fld>
            <a:endParaRPr lang="en-US"/>
          </a:p>
        </p:txBody>
      </p:sp>
    </p:spTree>
    <p:extLst>
      <p:ext uri="{BB962C8B-B14F-4D97-AF65-F5344CB8AC3E}">
        <p14:creationId xmlns:p14="http://schemas.microsoft.com/office/powerpoint/2010/main" val="35528087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png"/><Relationship Id="rId7" Type="http://schemas.openxmlformats.org/officeDocument/2006/relationships/image" Target="../media/image4.png"/><Relationship Id="rId2" Type="http://schemas.openxmlformats.org/officeDocument/2006/relationships/hyperlink" Target="https://www.imperva.com/learn/performance/http2/" TargetMode="External"/><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30.png"/><Relationship Id="rId4" Type="http://schemas.openxmlformats.org/officeDocument/2006/relationships/customXml" Target="../ink/ink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imperva.com/learn/ddos/udp-user-datagram-protocol/"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imperva.com/learn/application-security/tcp-transmission-control-protoco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574919-26E6-2DE1-6180-4BEC8E871EB1}"/>
              </a:ext>
            </a:extLst>
          </p:cNvPr>
          <p:cNvSpPr>
            <a:spLocks noGrp="1"/>
          </p:cNvSpPr>
          <p:nvPr>
            <p:ph type="ctrTitle"/>
          </p:nvPr>
        </p:nvSpPr>
        <p:spPr>
          <a:xfrm>
            <a:off x="643468" y="643467"/>
            <a:ext cx="4620584" cy="4567137"/>
          </a:xfrm>
        </p:spPr>
        <p:txBody>
          <a:bodyPr>
            <a:normAutofit/>
          </a:bodyPr>
          <a:lstStyle/>
          <a:p>
            <a:pPr algn="l"/>
            <a:r>
              <a:rPr lang="en-US" sz="4400">
                <a:effectLst/>
                <a:latin typeface="Aptos" panose="020B0004020202020204" pitchFamily="34" charset="0"/>
                <a:ea typeface="Aptos" panose="020B0004020202020204" pitchFamily="34" charset="0"/>
                <a:cs typeface="Times New Roman" panose="02020603050405020304" pitchFamily="18" charset="0"/>
              </a:rPr>
              <a:t>Open Systems Interconnection (OSI) model </a:t>
            </a:r>
            <a:endParaRPr lang="en-US" sz="4400"/>
          </a:p>
        </p:txBody>
      </p:sp>
      <p:pic>
        <p:nvPicPr>
          <p:cNvPr id="4" name="Picture 3">
            <a:extLst>
              <a:ext uri="{FF2B5EF4-FFF2-40B4-BE49-F238E27FC236}">
                <a16:creationId xmlns:a16="http://schemas.microsoft.com/office/drawing/2014/main" id="{138EAF7F-362A-C8B9-4B7C-378999EAF650}"/>
              </a:ext>
            </a:extLst>
          </p:cNvPr>
          <p:cNvPicPr>
            <a:picLocks noChangeAspect="1"/>
          </p:cNvPicPr>
          <p:nvPr/>
        </p:nvPicPr>
        <p:blipFill>
          <a:blip r:embed="rId2"/>
          <a:srcRect l="11231" r="3998" b="2"/>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922217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A39847-0F80-51BF-7F60-03AC1DA67080}"/>
              </a:ext>
            </a:extLst>
          </p:cNvPr>
          <p:cNvSpPr>
            <a:spLocks noGrp="1"/>
          </p:cNvSpPr>
          <p:nvPr>
            <p:ph type="title"/>
          </p:nvPr>
        </p:nvSpPr>
        <p:spPr>
          <a:xfrm>
            <a:off x="686834" y="1153572"/>
            <a:ext cx="3200400" cy="4461163"/>
          </a:xfrm>
        </p:spPr>
        <p:txBody>
          <a:bodyPr>
            <a:normAutofit/>
          </a:bodyPr>
          <a:lstStyle/>
          <a:p>
            <a:r>
              <a:rPr lang="en-US" sz="3400">
                <a:solidFill>
                  <a:srgbClr val="FFFFFF"/>
                </a:solidFill>
                <a:effectLst/>
                <a:latin typeface="Aptos" panose="020B0004020202020204" pitchFamily="34" charset="0"/>
                <a:ea typeface="Aptos" panose="020B0004020202020204" pitchFamily="34" charset="0"/>
                <a:cs typeface="Times New Roman" panose="02020603050405020304" pitchFamily="18" charset="0"/>
              </a:rPr>
              <a:t>Open Systems Interconnection (OSI) model </a:t>
            </a:r>
            <a:endParaRPr lang="en-US" sz="3400">
              <a:solidFill>
                <a:srgbClr val="FFFFFF"/>
              </a:solidFill>
            </a:endParaRPr>
          </a:p>
        </p:txBody>
      </p:sp>
      <p:sp>
        <p:nvSpPr>
          <p:cNvPr id="25" name="Arc 24">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6" name="Content Placeholder 15">
            <a:extLst>
              <a:ext uri="{FF2B5EF4-FFF2-40B4-BE49-F238E27FC236}">
                <a16:creationId xmlns:a16="http://schemas.microsoft.com/office/drawing/2014/main" id="{A823A747-5A7E-778B-4EB9-23411660B299}"/>
              </a:ext>
            </a:extLst>
          </p:cNvPr>
          <p:cNvSpPr>
            <a:spLocks noGrp="1"/>
          </p:cNvSpPr>
          <p:nvPr>
            <p:ph idx="1"/>
          </p:nvPr>
        </p:nvSpPr>
        <p:spPr>
          <a:xfrm>
            <a:off x="4167272" y="319088"/>
            <a:ext cx="7186527" cy="6266656"/>
          </a:xfrm>
        </p:spPr>
        <p:txBody>
          <a:bodyPr anchor="ctr">
            <a:normAutofit fontScale="85000" lnSpcReduction="20000"/>
          </a:bodyPr>
          <a:lstStyle/>
          <a:p>
            <a:pPr marL="0" marR="0">
              <a:spcAft>
                <a:spcPts val="800"/>
              </a:spcAft>
            </a:pPr>
            <a:r>
              <a:rPr lang="en-US" sz="2600" b="1" kern="100" dirty="0">
                <a:effectLst/>
                <a:latin typeface="Aptos" panose="020B0004020202020204" pitchFamily="34" charset="0"/>
                <a:ea typeface="Aptos" panose="020B0004020202020204" pitchFamily="34" charset="0"/>
                <a:cs typeface="Times New Roman" panose="02020603050405020304" pitchFamily="18" charset="0"/>
              </a:rPr>
              <a:t>What Is the OSI Model?</a:t>
            </a:r>
            <a:endParaRPr lang="en-US" sz="26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spcAft>
                <a:spcPts val="800"/>
              </a:spcAft>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The </a:t>
            </a:r>
            <a:r>
              <a:rPr lang="en-US" sz="2400" b="1" kern="100" dirty="0">
                <a:effectLst/>
                <a:latin typeface="Aptos" panose="020B0004020202020204" pitchFamily="34" charset="0"/>
                <a:ea typeface="Aptos" panose="020B0004020202020204" pitchFamily="34" charset="0"/>
                <a:cs typeface="Times New Roman" panose="02020603050405020304" pitchFamily="18" charset="0"/>
              </a:rPr>
              <a:t>Open Systems Interconnection (OSI) model </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describes </a:t>
            </a:r>
            <a:r>
              <a:rPr lang="en-US" sz="2400" b="1" kern="100" dirty="0">
                <a:effectLst/>
                <a:latin typeface="Aptos" panose="020B0004020202020204" pitchFamily="34" charset="0"/>
                <a:ea typeface="Aptos" panose="020B0004020202020204" pitchFamily="34" charset="0"/>
                <a:cs typeface="Times New Roman" panose="02020603050405020304" pitchFamily="18" charset="0"/>
              </a:rPr>
              <a:t>seven layers </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that </a:t>
            </a:r>
            <a:r>
              <a:rPr lang="en-US" sz="2400" u="sng" kern="100" dirty="0">
                <a:effectLst/>
                <a:latin typeface="Aptos" panose="020B0004020202020204" pitchFamily="34" charset="0"/>
                <a:ea typeface="Aptos" panose="020B0004020202020204" pitchFamily="34" charset="0"/>
                <a:cs typeface="Times New Roman" panose="02020603050405020304" pitchFamily="18" charset="0"/>
              </a:rPr>
              <a:t>computer systems use to communicate over a network.</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 The OSI model is </a:t>
            </a:r>
            <a:r>
              <a:rPr lang="en-US" sz="2400" u="sng" kern="100" dirty="0">
                <a:effectLst/>
                <a:latin typeface="Aptos" panose="020B0004020202020204" pitchFamily="34" charset="0"/>
                <a:ea typeface="Aptos" panose="020B0004020202020204" pitchFamily="34" charset="0"/>
                <a:cs typeface="Times New Roman" panose="02020603050405020304" pitchFamily="18" charset="0"/>
              </a:rPr>
              <a:t>divided into seven distinct layers, each with specific responsibilities</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 ranging from physical hardware connections to high-level application interactions.</a:t>
            </a:r>
          </a:p>
          <a:p>
            <a:pPr marL="0" marR="0">
              <a:spcAft>
                <a:spcPts val="800"/>
              </a:spcAft>
            </a:pPr>
            <a:r>
              <a:rPr lang="en-US" sz="2400" b="1" u="sng" kern="100" dirty="0">
                <a:effectLst/>
                <a:latin typeface="Aptos" panose="020B0004020202020204" pitchFamily="34" charset="0"/>
                <a:ea typeface="Aptos" panose="020B0004020202020204" pitchFamily="34" charset="0"/>
                <a:cs typeface="Times New Roman" panose="02020603050405020304" pitchFamily="18" charset="0"/>
              </a:rPr>
              <a:t>Each layer </a:t>
            </a:r>
            <a:r>
              <a:rPr lang="en-US" sz="2400" u="sng" kern="100" dirty="0">
                <a:effectLst/>
                <a:latin typeface="Aptos" panose="020B0004020202020204" pitchFamily="34" charset="0"/>
                <a:ea typeface="Aptos" panose="020B0004020202020204" pitchFamily="34" charset="0"/>
                <a:cs typeface="Times New Roman" panose="02020603050405020304" pitchFamily="18" charset="0"/>
              </a:rPr>
              <a:t>of the </a:t>
            </a:r>
            <a:r>
              <a:rPr lang="en-US" sz="2400" b="1" u="sng" kern="100" dirty="0">
                <a:effectLst/>
                <a:latin typeface="Aptos" panose="020B0004020202020204" pitchFamily="34" charset="0"/>
                <a:ea typeface="Aptos" panose="020B0004020202020204" pitchFamily="34" charset="0"/>
                <a:cs typeface="Times New Roman" panose="02020603050405020304" pitchFamily="18" charset="0"/>
              </a:rPr>
              <a:t>OSI model </a:t>
            </a:r>
            <a:r>
              <a:rPr lang="en-US" sz="2400" i="1" u="sng" kern="100" dirty="0">
                <a:effectLst/>
                <a:latin typeface="Aptos" panose="020B0004020202020204" pitchFamily="34" charset="0"/>
                <a:ea typeface="Aptos" panose="020B0004020202020204" pitchFamily="34" charset="0"/>
                <a:cs typeface="Times New Roman" panose="02020603050405020304" pitchFamily="18" charset="0"/>
              </a:rPr>
              <a:t>interacts</a:t>
            </a:r>
            <a:r>
              <a:rPr lang="en-US" sz="2400" b="1" u="sng" kern="100" dirty="0">
                <a:effectLst/>
                <a:latin typeface="Aptos" panose="020B0004020202020204" pitchFamily="34" charset="0"/>
                <a:ea typeface="Aptos" panose="020B0004020202020204" pitchFamily="34" charset="0"/>
                <a:cs typeface="Times New Roman" panose="02020603050405020304" pitchFamily="18" charset="0"/>
              </a:rPr>
              <a:t> </a:t>
            </a:r>
            <a:r>
              <a:rPr lang="en-US" sz="2400" u="sng" kern="100" dirty="0">
                <a:effectLst/>
                <a:latin typeface="Aptos" panose="020B0004020202020204" pitchFamily="34" charset="0"/>
                <a:ea typeface="Aptos" panose="020B0004020202020204" pitchFamily="34" charset="0"/>
                <a:cs typeface="Times New Roman" panose="02020603050405020304" pitchFamily="18" charset="0"/>
              </a:rPr>
              <a:t>with the layer directly above and below it</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400" b="1" kern="100" dirty="0">
                <a:effectLst/>
                <a:latin typeface="Aptos" panose="020B0004020202020204" pitchFamily="34" charset="0"/>
                <a:ea typeface="Aptos" panose="020B0004020202020204" pitchFamily="34" charset="0"/>
                <a:cs typeface="Times New Roman" panose="02020603050405020304" pitchFamily="18" charset="0"/>
              </a:rPr>
              <a:t>encapsulating</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 and </a:t>
            </a:r>
            <a:r>
              <a:rPr lang="en-US" sz="2400" b="1" kern="100" dirty="0">
                <a:effectLst/>
                <a:latin typeface="Aptos" panose="020B0004020202020204" pitchFamily="34" charset="0"/>
                <a:ea typeface="Aptos" panose="020B0004020202020204" pitchFamily="34" charset="0"/>
                <a:cs typeface="Times New Roman" panose="02020603050405020304" pitchFamily="18" charset="0"/>
              </a:rPr>
              <a:t>transmitting data </a:t>
            </a:r>
            <a:r>
              <a:rPr lang="en-US" sz="2400" u="sng" kern="100" dirty="0">
                <a:effectLst/>
                <a:latin typeface="Aptos" panose="020B0004020202020204" pitchFamily="34" charset="0"/>
                <a:ea typeface="Aptos" panose="020B0004020202020204" pitchFamily="34" charset="0"/>
                <a:cs typeface="Times New Roman" panose="02020603050405020304" pitchFamily="18" charset="0"/>
              </a:rPr>
              <a:t>in a structured manner</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 This approach helps network professionals troubleshoot issues, as problems can be isolated to a specific layer. The OSI model serves as a universal language for networking, providing a common ground for different systems to communicate effectively.</a:t>
            </a:r>
          </a:p>
          <a:p>
            <a:pPr marL="0" marR="0">
              <a:spcAft>
                <a:spcPts val="800"/>
              </a:spcAft>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The </a:t>
            </a:r>
            <a:r>
              <a:rPr lang="en-US" sz="2400" b="1" kern="100" dirty="0">
                <a:effectLst/>
                <a:latin typeface="Aptos" panose="020B0004020202020204" pitchFamily="34" charset="0"/>
                <a:ea typeface="Aptos" panose="020B0004020202020204" pitchFamily="34" charset="0"/>
                <a:cs typeface="Times New Roman" panose="02020603050405020304" pitchFamily="18" charset="0"/>
              </a:rPr>
              <a:t>OSI model </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was the </a:t>
            </a:r>
            <a:r>
              <a:rPr lang="en-US" sz="2400" u="sng" kern="100" dirty="0">
                <a:effectLst/>
                <a:latin typeface="Aptos" panose="020B0004020202020204" pitchFamily="34" charset="0"/>
                <a:ea typeface="Aptos" panose="020B0004020202020204" pitchFamily="34" charset="0"/>
                <a:cs typeface="Times New Roman" panose="02020603050405020304" pitchFamily="18" charset="0"/>
              </a:rPr>
              <a:t>first standard model for network communications</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 adopted by all major computer and telecommunication companies in the early 1980s. </a:t>
            </a:r>
            <a:r>
              <a:rPr lang="en-US" sz="2400" u="sng" kern="100" dirty="0">
                <a:effectLst/>
                <a:latin typeface="Aptos" panose="020B0004020202020204" pitchFamily="34" charset="0"/>
                <a:ea typeface="Aptos" panose="020B0004020202020204" pitchFamily="34" charset="0"/>
                <a:cs typeface="Times New Roman" panose="02020603050405020304" pitchFamily="18" charset="0"/>
              </a:rPr>
              <a:t>It was introduced in </a:t>
            </a:r>
            <a:r>
              <a:rPr lang="en-US" sz="2400" b="1" u="sng" kern="100" dirty="0">
                <a:effectLst/>
                <a:latin typeface="Aptos" panose="020B0004020202020204" pitchFamily="34" charset="0"/>
                <a:ea typeface="Aptos" panose="020B0004020202020204" pitchFamily="34" charset="0"/>
                <a:cs typeface="Times New Roman" panose="02020603050405020304" pitchFamily="18" charset="0"/>
              </a:rPr>
              <a:t>1983</a:t>
            </a:r>
            <a:r>
              <a:rPr lang="en-US" sz="2400" u="sng" kern="100" dirty="0">
                <a:effectLst/>
                <a:latin typeface="Aptos" panose="020B0004020202020204" pitchFamily="34" charset="0"/>
                <a:ea typeface="Aptos" panose="020B0004020202020204" pitchFamily="34" charset="0"/>
                <a:cs typeface="Times New Roman" panose="02020603050405020304" pitchFamily="18" charset="0"/>
              </a:rPr>
              <a:t> by representatives of the major computer and telecom companies, and was adopted by ISO as an international standard in </a:t>
            </a:r>
            <a:r>
              <a:rPr lang="en-US" sz="2400" b="1" u="sng" kern="100" dirty="0">
                <a:effectLst/>
                <a:latin typeface="Aptos" panose="020B0004020202020204" pitchFamily="34" charset="0"/>
                <a:ea typeface="Aptos" panose="020B0004020202020204" pitchFamily="34" charset="0"/>
                <a:cs typeface="Times New Roman" panose="02020603050405020304" pitchFamily="18" charset="0"/>
              </a:rPr>
              <a:t>1984</a:t>
            </a:r>
            <a:r>
              <a:rPr lang="en-US" sz="2400" u="sng"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a:spcAft>
                <a:spcPts val="800"/>
              </a:spcAft>
            </a:pPr>
            <a:r>
              <a:rPr lang="en-US" sz="2400" u="sng" kern="100" dirty="0">
                <a:effectLst/>
                <a:latin typeface="Aptos" panose="020B0004020202020204" pitchFamily="34" charset="0"/>
                <a:ea typeface="Aptos" panose="020B0004020202020204" pitchFamily="34" charset="0"/>
                <a:cs typeface="Times New Roman" panose="02020603050405020304" pitchFamily="18" charset="0"/>
              </a:rPr>
              <a:t>The modern Internet is not based on OSI, but on the simpler TCP/IP model</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 However, the </a:t>
            </a:r>
            <a:r>
              <a:rPr lang="en-US" sz="2400" b="1" kern="100" dirty="0">
                <a:effectLst/>
                <a:latin typeface="Aptos" panose="020B0004020202020204" pitchFamily="34" charset="0"/>
                <a:ea typeface="Aptos" panose="020B0004020202020204" pitchFamily="34" charset="0"/>
                <a:cs typeface="Times New Roman" panose="02020603050405020304" pitchFamily="18" charset="0"/>
              </a:rPr>
              <a:t>OSI 7-layer model</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 is still widely used, as </a:t>
            </a:r>
            <a:r>
              <a:rPr lang="en-US" sz="2400" b="1" u="sng" kern="100" dirty="0">
                <a:effectLst/>
                <a:latin typeface="Aptos" panose="020B0004020202020204" pitchFamily="34" charset="0"/>
                <a:ea typeface="Aptos" panose="020B0004020202020204" pitchFamily="34" charset="0"/>
                <a:cs typeface="Times New Roman" panose="02020603050405020304" pitchFamily="18" charset="0"/>
              </a:rPr>
              <a:t>it helps visualize and communicate how networks operate.</a:t>
            </a:r>
          </a:p>
          <a:p>
            <a:endParaRPr lang="en-US" sz="1500" dirty="0"/>
          </a:p>
        </p:txBody>
      </p:sp>
    </p:spTree>
    <p:extLst>
      <p:ext uri="{BB962C8B-B14F-4D97-AF65-F5344CB8AC3E}">
        <p14:creationId xmlns:p14="http://schemas.microsoft.com/office/powerpoint/2010/main" val="1346872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70AA84-72F6-D228-1B9D-0F4F1F9A166B}"/>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50A164-CBE0-95CC-55E8-9917736480BC}"/>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3800" kern="1200">
                <a:solidFill>
                  <a:schemeClr val="tx1"/>
                </a:solidFill>
                <a:effectLst/>
                <a:latin typeface="+mj-lt"/>
                <a:ea typeface="+mj-ea"/>
                <a:cs typeface="+mj-cs"/>
              </a:rPr>
              <a:t>Open Systems Interconnection (OSI) model </a:t>
            </a:r>
            <a:endParaRPr lang="en-US" sz="3800" kern="1200">
              <a:solidFill>
                <a:schemeClr val="tx1"/>
              </a:solidFill>
              <a:latin typeface="+mj-lt"/>
              <a:ea typeface="+mj-ea"/>
              <a:cs typeface="+mj-cs"/>
            </a:endParaRPr>
          </a:p>
        </p:txBody>
      </p:sp>
      <p:sp>
        <p:nvSpPr>
          <p:cNvPr id="21"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0940C7F-1347-6363-7161-2165B7A2BDBE}"/>
              </a:ext>
            </a:extLst>
          </p:cNvPr>
          <p:cNvSpPr txBox="1"/>
          <p:nvPr/>
        </p:nvSpPr>
        <p:spPr>
          <a:xfrm>
            <a:off x="630936" y="2807208"/>
            <a:ext cx="3429000" cy="3410712"/>
          </a:xfrm>
          <a:prstGeom prst="rect">
            <a:avLst/>
          </a:prstGeom>
        </p:spPr>
        <p:txBody>
          <a:bodyPr vert="horz" lIns="91440" tIns="45720" rIns="91440" bIns="45720" rtlCol="0" anchor="t">
            <a:normAutofit/>
          </a:bodyPr>
          <a:lstStyle/>
          <a:p>
            <a:pPr marL="0" marR="0" indent="-228600">
              <a:lnSpc>
                <a:spcPct val="90000"/>
              </a:lnSpc>
              <a:spcAft>
                <a:spcPts val="800"/>
              </a:spcAft>
              <a:buFont typeface="Arial" panose="020B0604020202020204" pitchFamily="34" charset="0"/>
              <a:buChar char="•"/>
            </a:pPr>
            <a:r>
              <a:rPr lang="en-US" sz="2200">
                <a:effectLst/>
              </a:rPr>
              <a:t>We’ll describe OSI layers “top down” from the application layer that directly serves the end user, down to the physical layer.</a:t>
            </a:r>
          </a:p>
        </p:txBody>
      </p:sp>
      <p:pic>
        <p:nvPicPr>
          <p:cNvPr id="14" name="Content Placeholder 13">
            <a:extLst>
              <a:ext uri="{FF2B5EF4-FFF2-40B4-BE49-F238E27FC236}">
                <a16:creationId xmlns:a16="http://schemas.microsoft.com/office/drawing/2014/main" id="{D3C9611B-8809-600C-9F1B-D1BDD7A8C92E}"/>
              </a:ext>
            </a:extLst>
          </p:cNvPr>
          <p:cNvPicPr>
            <a:picLocks noGrp="1" noChangeAspect="1"/>
          </p:cNvPicPr>
          <p:nvPr>
            <p:ph idx="1"/>
          </p:nvPr>
        </p:nvPicPr>
        <p:blipFill>
          <a:blip r:embed="rId2"/>
          <a:stretch>
            <a:fillRect/>
          </a:stretch>
        </p:blipFill>
        <p:spPr>
          <a:xfrm>
            <a:off x="4684168" y="640080"/>
            <a:ext cx="7317337" cy="5963630"/>
          </a:xfrm>
          <a:prstGeom prst="rect">
            <a:avLst/>
          </a:prstGeom>
        </p:spPr>
      </p:pic>
    </p:spTree>
    <p:extLst>
      <p:ext uri="{BB962C8B-B14F-4D97-AF65-F5344CB8AC3E}">
        <p14:creationId xmlns:p14="http://schemas.microsoft.com/office/powerpoint/2010/main" val="1248931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8EF66-43C3-66BC-A612-186DE87B7A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3E1E6C-D9F6-33D0-C105-FEC4C3D967AF}"/>
              </a:ext>
            </a:extLst>
          </p:cNvPr>
          <p:cNvSpPr>
            <a:spLocks noGrp="1"/>
          </p:cNvSpPr>
          <p:nvPr>
            <p:ph type="title"/>
          </p:nvPr>
        </p:nvSpPr>
        <p:spPr>
          <a:xfrm>
            <a:off x="838200" y="365125"/>
            <a:ext cx="10515600" cy="892175"/>
          </a:xfrm>
        </p:spPr>
        <p:txBody>
          <a:bodyPr>
            <a:normAutofit/>
          </a:bodyPr>
          <a:lstStyle/>
          <a:p>
            <a:r>
              <a:rPr lang="en-US" sz="2800" dirty="0">
                <a:effectLst/>
                <a:latin typeface="Aptos" panose="020B0004020202020204" pitchFamily="34" charset="0"/>
                <a:ea typeface="Aptos" panose="020B0004020202020204" pitchFamily="34" charset="0"/>
                <a:cs typeface="Times New Roman" panose="02020603050405020304" pitchFamily="18" charset="0"/>
              </a:rPr>
              <a:t>Open Systems Interconnection (OSI) model </a:t>
            </a:r>
            <a:endParaRPr lang="en-US" sz="6000" dirty="0"/>
          </a:p>
        </p:txBody>
      </p:sp>
      <p:sp>
        <p:nvSpPr>
          <p:cNvPr id="3" name="Content Placeholder 2">
            <a:extLst>
              <a:ext uri="{FF2B5EF4-FFF2-40B4-BE49-F238E27FC236}">
                <a16:creationId xmlns:a16="http://schemas.microsoft.com/office/drawing/2014/main" id="{BED874C4-7130-A7C7-6289-07480EFFB988}"/>
              </a:ext>
            </a:extLst>
          </p:cNvPr>
          <p:cNvSpPr>
            <a:spLocks noGrp="1"/>
          </p:cNvSpPr>
          <p:nvPr>
            <p:ph idx="1"/>
          </p:nvPr>
        </p:nvSpPr>
        <p:spPr>
          <a:xfrm>
            <a:off x="838200" y="1825624"/>
            <a:ext cx="10693400" cy="4829175"/>
          </a:xfrm>
        </p:spPr>
        <p:txBody>
          <a:bodyPr>
            <a:normAutofit fontScale="92500" lnSpcReduction="10000"/>
          </a:bodyPr>
          <a:lstStyle/>
          <a:p>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sz="1800" kern="100" dirty="0">
              <a:latin typeface="Aptos" panose="020B0004020202020204" pitchFamily="34" charset="0"/>
              <a:ea typeface="Aptos" panose="020B0004020202020204" pitchFamily="34" charset="0"/>
              <a:cs typeface="Times New Roman" panose="02020603050405020304" pitchFamily="18" charset="0"/>
            </a:endParaRPr>
          </a:p>
          <a:p>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US" sz="2600" b="1" kern="100" dirty="0">
                <a:effectLst/>
                <a:latin typeface="Aptos" panose="020B0004020202020204" pitchFamily="34" charset="0"/>
                <a:ea typeface="Aptos" panose="020B0004020202020204" pitchFamily="34" charset="0"/>
                <a:cs typeface="Times New Roman" panose="02020603050405020304" pitchFamily="18" charset="0"/>
              </a:rPr>
              <a:t>7. Application Layer</a:t>
            </a:r>
            <a:endParaRPr lang="en-US" sz="2600" kern="100" dirty="0">
              <a:latin typeface="Aptos" panose="020B0004020202020204" pitchFamily="34" charset="0"/>
              <a:ea typeface="Aptos" panose="020B0004020202020204" pitchFamily="34" charset="0"/>
              <a:cs typeface="Times New Roman" panose="02020603050405020304" pitchFamily="18" charset="0"/>
            </a:endParaRPr>
          </a:p>
          <a:p>
            <a:r>
              <a:rPr lang="en-US" sz="2200" kern="100" dirty="0">
                <a:effectLst/>
                <a:latin typeface="Aptos" panose="020B0004020202020204" pitchFamily="34" charset="0"/>
                <a:ea typeface="Aptos" panose="020B0004020202020204" pitchFamily="34" charset="0"/>
                <a:cs typeface="Times New Roman" panose="02020603050405020304" pitchFamily="18" charset="0"/>
              </a:rPr>
              <a:t>The Application Layer serves as the </a:t>
            </a:r>
            <a:r>
              <a:rPr lang="en-US" sz="2200" b="1" kern="100" dirty="0">
                <a:effectLst/>
                <a:latin typeface="Aptos" panose="020B0004020202020204" pitchFamily="34" charset="0"/>
                <a:ea typeface="Aptos" panose="020B0004020202020204" pitchFamily="34" charset="0"/>
                <a:cs typeface="Times New Roman" panose="02020603050405020304" pitchFamily="18" charset="0"/>
              </a:rPr>
              <a:t>interface</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 between the </a:t>
            </a:r>
            <a:r>
              <a:rPr lang="en-US" sz="2200" b="1" kern="100" dirty="0">
                <a:effectLst/>
                <a:latin typeface="Aptos" panose="020B0004020202020204" pitchFamily="34" charset="0"/>
                <a:ea typeface="Aptos" panose="020B0004020202020204" pitchFamily="34" charset="0"/>
                <a:cs typeface="Times New Roman" panose="02020603050405020304" pitchFamily="18" charset="0"/>
              </a:rPr>
              <a:t>end-user applications </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and the </a:t>
            </a:r>
            <a:r>
              <a:rPr lang="en-US" sz="2200" b="1" kern="100" dirty="0">
                <a:effectLst/>
                <a:latin typeface="Aptos" panose="020B0004020202020204" pitchFamily="34" charset="0"/>
                <a:ea typeface="Aptos" panose="020B0004020202020204" pitchFamily="34" charset="0"/>
                <a:cs typeface="Times New Roman" panose="02020603050405020304" pitchFamily="18" charset="0"/>
              </a:rPr>
              <a:t>underlying network services</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 </a:t>
            </a:r>
          </a:p>
          <a:p>
            <a:r>
              <a:rPr lang="en-US" sz="2200" kern="100" dirty="0">
                <a:effectLst/>
                <a:latin typeface="Aptos" panose="020B0004020202020204" pitchFamily="34" charset="0"/>
                <a:ea typeface="Aptos" panose="020B0004020202020204" pitchFamily="34" charset="0"/>
                <a:cs typeface="Times New Roman" panose="02020603050405020304" pitchFamily="18" charset="0"/>
              </a:rPr>
              <a:t>This layer </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provides </a:t>
            </a:r>
            <a:r>
              <a:rPr lang="en-US" sz="2200" b="1" u="sng" kern="100" dirty="0">
                <a:effectLst/>
                <a:latin typeface="Aptos" panose="020B0004020202020204" pitchFamily="34" charset="0"/>
                <a:ea typeface="Aptos" panose="020B0004020202020204" pitchFamily="34" charset="0"/>
                <a:cs typeface="Times New Roman" panose="02020603050405020304" pitchFamily="18" charset="0"/>
              </a:rPr>
              <a:t>protocols</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 and </a:t>
            </a:r>
            <a:r>
              <a:rPr lang="en-US" sz="2200" b="1" u="sng" kern="100" dirty="0">
                <a:effectLst/>
                <a:latin typeface="Aptos" panose="020B0004020202020204" pitchFamily="34" charset="0"/>
                <a:ea typeface="Aptos" panose="020B0004020202020204" pitchFamily="34" charset="0"/>
                <a:cs typeface="Times New Roman" panose="02020603050405020304" pitchFamily="18" charset="0"/>
              </a:rPr>
              <a:t>services</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 </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that are </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directly utilized by </a:t>
            </a:r>
            <a:r>
              <a:rPr lang="en-US" sz="2200" b="1" u="sng" kern="100" dirty="0">
                <a:effectLst/>
                <a:latin typeface="Aptos" panose="020B0004020202020204" pitchFamily="34" charset="0"/>
                <a:ea typeface="Aptos" panose="020B0004020202020204" pitchFamily="34" charset="0"/>
                <a:cs typeface="Times New Roman" panose="02020603050405020304" pitchFamily="18" charset="0"/>
              </a:rPr>
              <a:t>end-user applications </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to </a:t>
            </a:r>
            <a:r>
              <a:rPr lang="en-US" sz="2200" b="1" u="sng" kern="100" dirty="0">
                <a:effectLst/>
                <a:latin typeface="Aptos" panose="020B0004020202020204" pitchFamily="34" charset="0"/>
                <a:ea typeface="Aptos" panose="020B0004020202020204" pitchFamily="34" charset="0"/>
                <a:cs typeface="Times New Roman" panose="02020603050405020304" pitchFamily="18" charset="0"/>
              </a:rPr>
              <a:t>communicate across the network</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 </a:t>
            </a:r>
          </a:p>
          <a:p>
            <a:r>
              <a:rPr lang="en-US" sz="2200" b="1" i="1" kern="100" dirty="0">
                <a:effectLst/>
                <a:latin typeface="Aptos" panose="020B0004020202020204" pitchFamily="34" charset="0"/>
                <a:ea typeface="Aptos" panose="020B0004020202020204" pitchFamily="34" charset="0"/>
                <a:cs typeface="Times New Roman" panose="02020603050405020304" pitchFamily="18" charset="0"/>
              </a:rPr>
              <a:t>Key functionalities </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of the Application Layer include </a:t>
            </a:r>
            <a:r>
              <a:rPr lang="en-US" sz="2200" b="1" kern="100" dirty="0">
                <a:effectLst/>
                <a:latin typeface="Aptos" panose="020B0004020202020204" pitchFamily="34" charset="0"/>
                <a:ea typeface="Aptos" panose="020B0004020202020204" pitchFamily="34" charset="0"/>
                <a:cs typeface="Times New Roman" panose="02020603050405020304" pitchFamily="18" charset="0"/>
              </a:rPr>
              <a:t>resource sharing</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200" b="1" kern="100" dirty="0">
                <a:effectLst/>
                <a:latin typeface="Aptos" panose="020B0004020202020204" pitchFamily="34" charset="0"/>
                <a:ea typeface="Aptos" panose="020B0004020202020204" pitchFamily="34" charset="0"/>
                <a:cs typeface="Times New Roman" panose="02020603050405020304" pitchFamily="18" charset="0"/>
              </a:rPr>
              <a:t>remote file access</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 and </a:t>
            </a:r>
            <a:r>
              <a:rPr lang="en-US" sz="2200" b="1" kern="100" dirty="0">
                <a:effectLst/>
                <a:latin typeface="Aptos" panose="020B0004020202020204" pitchFamily="34" charset="0"/>
                <a:ea typeface="Aptos" panose="020B0004020202020204" pitchFamily="34" charset="0"/>
                <a:cs typeface="Times New Roman" panose="02020603050405020304" pitchFamily="18" charset="0"/>
              </a:rPr>
              <a:t>network management</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a:t>
            </a:r>
          </a:p>
          <a:p>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Examples of </a:t>
            </a:r>
            <a:r>
              <a:rPr lang="en-US" sz="2200" b="1" u="sng" kern="100" dirty="0">
                <a:effectLst/>
                <a:latin typeface="Aptos" panose="020B0004020202020204" pitchFamily="34" charset="0"/>
                <a:ea typeface="Aptos" panose="020B0004020202020204" pitchFamily="34" charset="0"/>
                <a:cs typeface="Times New Roman" panose="02020603050405020304" pitchFamily="18" charset="0"/>
              </a:rPr>
              <a:t>protocols</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 operating at the Application Layer </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include </a:t>
            </a:r>
            <a:r>
              <a:rPr lang="en-US" sz="22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2"/>
              </a:rPr>
              <a:t>Hypertext Transfer Protocol (HTTP)</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 for web browsing, File Transfer Protocol (FTP) for file transfers, Simple Mail Transfer Protocol (SMTP) for email services, and Domain Name System (DNS) for resolving domain names to IP addresses. These protocols ensure that user applications can effectively communicate with each other and with servers over a network.</a:t>
            </a:r>
          </a:p>
        </p:txBody>
      </p:sp>
      <p:pic>
        <p:nvPicPr>
          <p:cNvPr id="8" name="Picture 7" descr="application layer">
            <a:extLst>
              <a:ext uri="{FF2B5EF4-FFF2-40B4-BE49-F238E27FC236}">
                <a16:creationId xmlns:a16="http://schemas.microsoft.com/office/drawing/2014/main" id="{A63078A5-607D-9DCA-114A-E16E1893945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25900" y="1130300"/>
            <a:ext cx="5473700" cy="2069148"/>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7262906D-67AD-25B8-66C2-61B688F4C6DB}"/>
                  </a:ext>
                </a:extLst>
              </p14:cNvPr>
              <p14:cNvContentPartPr/>
              <p14:nvPr/>
            </p14:nvContentPartPr>
            <p14:xfrm>
              <a:off x="1803257" y="2362286"/>
              <a:ext cx="3960" cy="360"/>
            </p14:xfrm>
          </p:contentPart>
        </mc:Choice>
        <mc:Fallback xmlns="">
          <p:pic>
            <p:nvPicPr>
              <p:cNvPr id="4" name="Ink 3">
                <a:extLst>
                  <a:ext uri="{FF2B5EF4-FFF2-40B4-BE49-F238E27FC236}">
                    <a16:creationId xmlns:a16="http://schemas.microsoft.com/office/drawing/2014/main" id="{7262906D-67AD-25B8-66C2-61B688F4C6DB}"/>
                  </a:ext>
                </a:extLst>
              </p:cNvPr>
              <p:cNvPicPr/>
              <p:nvPr/>
            </p:nvPicPr>
            <p:blipFill>
              <a:blip r:embed="rId5"/>
              <a:stretch>
                <a:fillRect/>
              </a:stretch>
            </p:blipFill>
            <p:spPr>
              <a:xfrm>
                <a:off x="1785617" y="2344646"/>
                <a:ext cx="396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94A55F77-03DD-6201-EE4C-A4E102122EC1}"/>
                  </a:ext>
                </a:extLst>
              </p14:cNvPr>
              <p14:cNvContentPartPr/>
              <p14:nvPr/>
            </p14:nvContentPartPr>
            <p14:xfrm>
              <a:off x="14194457" y="2285880"/>
              <a:ext cx="360" cy="360"/>
            </p14:xfrm>
          </p:contentPart>
        </mc:Choice>
        <mc:Fallback xmlns="">
          <p:pic>
            <p:nvPicPr>
              <p:cNvPr id="5" name="Ink 4">
                <a:extLst>
                  <a:ext uri="{FF2B5EF4-FFF2-40B4-BE49-F238E27FC236}">
                    <a16:creationId xmlns:a16="http://schemas.microsoft.com/office/drawing/2014/main" id="{94A55F77-03DD-6201-EE4C-A4E102122EC1}"/>
                  </a:ext>
                </a:extLst>
              </p:cNvPr>
              <p:cNvPicPr/>
              <p:nvPr/>
            </p:nvPicPr>
            <p:blipFill>
              <a:blip r:embed="rId7"/>
              <a:stretch>
                <a:fillRect/>
              </a:stretch>
            </p:blipFill>
            <p:spPr>
              <a:xfrm>
                <a:off x="14176817" y="2267880"/>
                <a:ext cx="36000" cy="36000"/>
              </a:xfrm>
              <a:prstGeom prst="rect">
                <a:avLst/>
              </a:prstGeom>
            </p:spPr>
          </p:pic>
        </mc:Fallback>
      </mc:AlternateContent>
      <p:pic>
        <p:nvPicPr>
          <p:cNvPr id="7" name="Picture 6">
            <a:extLst>
              <a:ext uri="{FF2B5EF4-FFF2-40B4-BE49-F238E27FC236}">
                <a16:creationId xmlns:a16="http://schemas.microsoft.com/office/drawing/2014/main" id="{4B81A388-79A0-F44F-C15F-C3D6887B3999}"/>
              </a:ext>
            </a:extLst>
          </p:cNvPr>
          <p:cNvPicPr>
            <a:picLocks noChangeAspect="1"/>
          </p:cNvPicPr>
          <p:nvPr/>
        </p:nvPicPr>
        <p:blipFill>
          <a:blip r:embed="rId8"/>
          <a:stretch>
            <a:fillRect/>
          </a:stretch>
        </p:blipFill>
        <p:spPr>
          <a:xfrm>
            <a:off x="9824400" y="111513"/>
            <a:ext cx="2025752" cy="2977016"/>
          </a:xfrm>
          <a:prstGeom prst="rect">
            <a:avLst/>
          </a:prstGeom>
        </p:spPr>
      </p:pic>
    </p:spTree>
    <p:extLst>
      <p:ext uri="{BB962C8B-B14F-4D97-AF65-F5344CB8AC3E}">
        <p14:creationId xmlns:p14="http://schemas.microsoft.com/office/powerpoint/2010/main" val="1689002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841F3-55B2-976D-08B4-4807D7128F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FEC512-8A2A-B3C0-5CFC-CF9F12B5B969}"/>
              </a:ext>
            </a:extLst>
          </p:cNvPr>
          <p:cNvSpPr>
            <a:spLocks noGrp="1"/>
          </p:cNvSpPr>
          <p:nvPr>
            <p:ph type="title"/>
          </p:nvPr>
        </p:nvSpPr>
        <p:spPr>
          <a:xfrm>
            <a:off x="838200" y="365125"/>
            <a:ext cx="10515600" cy="892175"/>
          </a:xfrm>
        </p:spPr>
        <p:txBody>
          <a:bodyPr>
            <a:normAutofit/>
          </a:bodyPr>
          <a:lstStyle/>
          <a:p>
            <a:r>
              <a:rPr lang="en-US" sz="2800">
                <a:effectLst/>
                <a:latin typeface="Aptos" panose="020B0004020202020204" pitchFamily="34" charset="0"/>
                <a:ea typeface="Aptos" panose="020B0004020202020204" pitchFamily="34" charset="0"/>
                <a:cs typeface="Times New Roman" panose="02020603050405020304" pitchFamily="18" charset="0"/>
              </a:rPr>
              <a:t>Open Systems Interconnection (OSI) model </a:t>
            </a:r>
            <a:endParaRPr lang="en-US" sz="6000" dirty="0"/>
          </a:p>
        </p:txBody>
      </p:sp>
      <p:sp>
        <p:nvSpPr>
          <p:cNvPr id="3" name="Content Placeholder 2">
            <a:extLst>
              <a:ext uri="{FF2B5EF4-FFF2-40B4-BE49-F238E27FC236}">
                <a16:creationId xmlns:a16="http://schemas.microsoft.com/office/drawing/2014/main" id="{B562FFD6-43AB-3C6D-A916-4D2C1AB6794B}"/>
              </a:ext>
            </a:extLst>
          </p:cNvPr>
          <p:cNvSpPr>
            <a:spLocks noGrp="1"/>
          </p:cNvSpPr>
          <p:nvPr>
            <p:ph idx="1"/>
          </p:nvPr>
        </p:nvSpPr>
        <p:spPr>
          <a:xfrm>
            <a:off x="847725" y="2041525"/>
            <a:ext cx="10112375" cy="4829175"/>
          </a:xfrm>
        </p:spPr>
        <p:txBody>
          <a:bodyPr>
            <a:normAutofit fontScale="92500" lnSpcReduction="20000"/>
          </a:bodyPr>
          <a:lstStyle/>
          <a:p>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sz="1800" kern="100" dirty="0">
              <a:latin typeface="Aptos" panose="020B0004020202020204" pitchFamily="34" charset="0"/>
              <a:ea typeface="Aptos" panose="020B0004020202020204" pitchFamily="34" charset="0"/>
              <a:cs typeface="Times New Roman" panose="02020603050405020304" pitchFamily="18" charset="0"/>
            </a:endParaRPr>
          </a:p>
          <a:p>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US" sz="2600" b="1" kern="100" dirty="0">
                <a:effectLst/>
                <a:latin typeface="Aptos" panose="020B0004020202020204" pitchFamily="34" charset="0"/>
                <a:ea typeface="Aptos" panose="020B0004020202020204" pitchFamily="34" charset="0"/>
                <a:cs typeface="Times New Roman" panose="02020603050405020304" pitchFamily="18" charset="0"/>
              </a:rPr>
              <a:t>6. Presentation Layer</a:t>
            </a:r>
            <a:endParaRPr lang="en-US" sz="26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Aft>
                <a:spcPts val="800"/>
              </a:spcAft>
            </a:pPr>
            <a:r>
              <a:rPr lang="en-US" sz="2200" kern="100" dirty="0">
                <a:effectLst/>
                <a:latin typeface="Aptos" panose="020B0004020202020204" pitchFamily="34" charset="0"/>
                <a:ea typeface="Aptos" panose="020B0004020202020204" pitchFamily="34" charset="0"/>
                <a:cs typeface="Times New Roman" panose="02020603050405020304" pitchFamily="18" charset="0"/>
              </a:rPr>
              <a:t>The Presentation Layer, also known as the </a:t>
            </a:r>
            <a:r>
              <a:rPr lang="en-US" sz="2200" b="1" i="1" kern="100" dirty="0">
                <a:effectLst/>
                <a:latin typeface="Aptos" panose="020B0004020202020204" pitchFamily="34" charset="0"/>
                <a:ea typeface="Aptos" panose="020B0004020202020204" pitchFamily="34" charset="0"/>
                <a:cs typeface="Times New Roman" panose="02020603050405020304" pitchFamily="18" charset="0"/>
              </a:rPr>
              <a:t>syntax</a:t>
            </a:r>
            <a:r>
              <a:rPr lang="en-US" sz="2200" b="1" kern="100" dirty="0">
                <a:effectLst/>
                <a:latin typeface="Aptos" panose="020B0004020202020204" pitchFamily="34" charset="0"/>
                <a:ea typeface="Aptos" panose="020B0004020202020204" pitchFamily="34" charset="0"/>
                <a:cs typeface="Times New Roman" panose="02020603050405020304" pitchFamily="18" charset="0"/>
              </a:rPr>
              <a:t> layer</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 is </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responsible for </a:t>
            </a:r>
            <a:r>
              <a:rPr lang="en-US" sz="2200" b="1" u="sng" kern="100" dirty="0">
                <a:effectLst/>
                <a:latin typeface="Aptos" panose="020B0004020202020204" pitchFamily="34" charset="0"/>
                <a:ea typeface="Aptos" panose="020B0004020202020204" pitchFamily="34" charset="0"/>
                <a:cs typeface="Times New Roman" panose="02020603050405020304" pitchFamily="18" charset="0"/>
              </a:rPr>
              <a:t>translating</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 data</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between the </a:t>
            </a:r>
            <a:r>
              <a:rPr lang="en-US" sz="2200" b="1" u="sng" kern="100" dirty="0">
                <a:effectLst/>
                <a:latin typeface="Aptos" panose="020B0004020202020204" pitchFamily="34" charset="0"/>
                <a:ea typeface="Aptos" panose="020B0004020202020204" pitchFamily="34" charset="0"/>
                <a:cs typeface="Times New Roman" panose="02020603050405020304" pitchFamily="18" charset="0"/>
              </a:rPr>
              <a:t>application layer </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and the </a:t>
            </a:r>
            <a:r>
              <a:rPr lang="en-US" sz="2200" b="1" u="sng" kern="100" dirty="0">
                <a:effectLst/>
                <a:latin typeface="Aptos" panose="020B0004020202020204" pitchFamily="34" charset="0"/>
                <a:ea typeface="Aptos" panose="020B0004020202020204" pitchFamily="34" charset="0"/>
                <a:cs typeface="Times New Roman" panose="02020603050405020304" pitchFamily="18" charset="0"/>
              </a:rPr>
              <a:t>network</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 </a:t>
            </a:r>
            <a:r>
              <a:rPr lang="en-US" sz="2200" b="1" u="sng" kern="100" dirty="0">
                <a:effectLst/>
                <a:latin typeface="Aptos" panose="020B0004020202020204" pitchFamily="34" charset="0"/>
                <a:ea typeface="Aptos" panose="020B0004020202020204" pitchFamily="34" charset="0"/>
                <a:cs typeface="Times New Roman" panose="02020603050405020304" pitchFamily="18" charset="0"/>
              </a:rPr>
              <a:t>format</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 </a:t>
            </a:r>
          </a:p>
          <a:p>
            <a:pPr marL="0" marR="0" algn="just">
              <a:lnSpc>
                <a:spcPct val="115000"/>
              </a:lnSpc>
              <a:spcAft>
                <a:spcPts val="800"/>
              </a:spcAft>
            </a:pPr>
            <a:r>
              <a:rPr lang="en-US" sz="2200" kern="100" dirty="0">
                <a:effectLst/>
                <a:latin typeface="Aptos" panose="020B0004020202020204" pitchFamily="34" charset="0"/>
                <a:ea typeface="Aptos" panose="020B0004020202020204" pitchFamily="34" charset="0"/>
                <a:cs typeface="Times New Roman" panose="02020603050405020304" pitchFamily="18" charset="0"/>
              </a:rPr>
              <a:t>It </a:t>
            </a:r>
            <a:r>
              <a:rPr lang="en-US" sz="2200" b="1" i="1" kern="100" dirty="0">
                <a:effectLst/>
                <a:latin typeface="Aptos" panose="020B0004020202020204" pitchFamily="34" charset="0"/>
                <a:ea typeface="Aptos" panose="020B0004020202020204" pitchFamily="34" charset="0"/>
                <a:cs typeface="Times New Roman" panose="02020603050405020304" pitchFamily="18" charset="0"/>
              </a:rPr>
              <a:t>ensures</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 that </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data sent from the application layer of one system is </a:t>
            </a:r>
            <a:r>
              <a:rPr lang="en-US" sz="2200" b="1" i="1" u="sng" kern="100" dirty="0">
                <a:effectLst/>
                <a:latin typeface="Aptos" panose="020B0004020202020204" pitchFamily="34" charset="0"/>
                <a:ea typeface="Aptos" panose="020B0004020202020204" pitchFamily="34" charset="0"/>
                <a:cs typeface="Times New Roman" panose="02020603050405020304" pitchFamily="18" charset="0"/>
              </a:rPr>
              <a:t>readable</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 by the application layer of another system</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 This layer handles </a:t>
            </a:r>
            <a:r>
              <a:rPr lang="en-US" sz="2200" b="1" kern="100" dirty="0">
                <a:effectLst/>
                <a:latin typeface="Aptos" panose="020B0004020202020204" pitchFamily="34" charset="0"/>
                <a:ea typeface="Aptos" panose="020B0004020202020204" pitchFamily="34" charset="0"/>
                <a:cs typeface="Times New Roman" panose="02020603050405020304" pitchFamily="18" charset="0"/>
              </a:rPr>
              <a:t>data</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200" b="1" kern="100" dirty="0">
                <a:effectLst/>
                <a:latin typeface="Aptos" panose="020B0004020202020204" pitchFamily="34" charset="0"/>
                <a:ea typeface="Aptos" panose="020B0004020202020204" pitchFamily="34" charset="0"/>
                <a:cs typeface="Times New Roman" panose="02020603050405020304" pitchFamily="18" charset="0"/>
              </a:rPr>
              <a:t>formatting,  compression, </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and</a:t>
            </a:r>
            <a:r>
              <a:rPr lang="en-US" sz="2200" b="1" kern="100" dirty="0">
                <a:effectLst/>
                <a:latin typeface="Aptos" panose="020B0004020202020204" pitchFamily="34" charset="0"/>
                <a:ea typeface="Aptos" panose="020B0004020202020204" pitchFamily="34" charset="0"/>
                <a:cs typeface="Times New Roman" panose="02020603050405020304" pitchFamily="18" charset="0"/>
              </a:rPr>
              <a:t> encryption</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facilitating </a:t>
            </a:r>
            <a:r>
              <a:rPr lang="en-US" sz="2200" b="1" i="1" u="sng" kern="100" dirty="0">
                <a:effectLst/>
                <a:latin typeface="Aptos" panose="020B0004020202020204" pitchFamily="34" charset="0"/>
                <a:ea typeface="Aptos" panose="020B0004020202020204" pitchFamily="34" charset="0"/>
                <a:cs typeface="Times New Roman" panose="02020603050405020304" pitchFamily="18" charset="0"/>
              </a:rPr>
              <a:t>interoperability</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 between </a:t>
            </a:r>
            <a:r>
              <a:rPr lang="en-US" sz="2200" b="1" i="1" u="sng" kern="100" dirty="0">
                <a:effectLst/>
                <a:latin typeface="Aptos" panose="020B0004020202020204" pitchFamily="34" charset="0"/>
                <a:ea typeface="Aptos" panose="020B0004020202020204" pitchFamily="34" charset="0"/>
                <a:cs typeface="Times New Roman" panose="02020603050405020304" pitchFamily="18" charset="0"/>
              </a:rPr>
              <a:t>different systems</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algn="just">
              <a:lnSpc>
                <a:spcPct val="115000"/>
              </a:lnSpc>
              <a:spcAft>
                <a:spcPts val="800"/>
              </a:spcAft>
            </a:pPr>
            <a:r>
              <a:rPr lang="en-US" sz="2200" kern="100" dirty="0">
                <a:effectLst/>
                <a:latin typeface="Aptos" panose="020B0004020202020204" pitchFamily="34" charset="0"/>
                <a:ea typeface="Aptos" panose="020B0004020202020204" pitchFamily="34" charset="0"/>
                <a:cs typeface="Times New Roman" panose="02020603050405020304" pitchFamily="18" charset="0"/>
              </a:rPr>
              <a:t>One of the </a:t>
            </a:r>
            <a:r>
              <a:rPr lang="en-US" sz="2200" b="1" i="1" kern="100" dirty="0">
                <a:effectLst/>
                <a:latin typeface="Aptos" panose="020B0004020202020204" pitchFamily="34" charset="0"/>
                <a:ea typeface="Aptos" panose="020B0004020202020204" pitchFamily="34" charset="0"/>
                <a:cs typeface="Times New Roman" panose="02020603050405020304" pitchFamily="18" charset="0"/>
              </a:rPr>
              <a:t>key roles </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of the Presentation Layer is </a:t>
            </a:r>
            <a:r>
              <a:rPr lang="en-US" sz="2200" b="1" kern="100" dirty="0">
                <a:effectLst/>
                <a:latin typeface="Aptos" panose="020B0004020202020204" pitchFamily="34" charset="0"/>
                <a:ea typeface="Aptos" panose="020B0004020202020204" pitchFamily="34" charset="0"/>
                <a:cs typeface="Times New Roman" panose="02020603050405020304" pitchFamily="18" charset="0"/>
              </a:rPr>
              <a:t>data translation </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and </a:t>
            </a:r>
            <a:r>
              <a:rPr lang="en-US" sz="2200" b="1" kern="100" dirty="0">
                <a:effectLst/>
                <a:latin typeface="Aptos" panose="020B0004020202020204" pitchFamily="34" charset="0"/>
                <a:ea typeface="Aptos" panose="020B0004020202020204" pitchFamily="34" charset="0"/>
                <a:cs typeface="Times New Roman" panose="02020603050405020304" pitchFamily="18" charset="0"/>
              </a:rPr>
              <a:t>code conversion</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 It </a:t>
            </a:r>
            <a:r>
              <a:rPr lang="en-US" sz="2200" b="1" i="1" kern="100" dirty="0">
                <a:effectLst/>
                <a:latin typeface="Aptos" panose="020B0004020202020204" pitchFamily="34" charset="0"/>
                <a:ea typeface="Aptos" panose="020B0004020202020204" pitchFamily="34" charset="0"/>
                <a:cs typeface="Times New Roman" panose="02020603050405020304" pitchFamily="18" charset="0"/>
              </a:rPr>
              <a:t>transforms</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200" b="1" kern="100" dirty="0">
                <a:effectLst/>
                <a:latin typeface="Aptos" panose="020B0004020202020204" pitchFamily="34" charset="0"/>
                <a:ea typeface="Aptos" panose="020B0004020202020204" pitchFamily="34" charset="0"/>
                <a:cs typeface="Times New Roman" panose="02020603050405020304" pitchFamily="18" charset="0"/>
              </a:rPr>
              <a:t>data</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 into a </a:t>
            </a:r>
            <a:r>
              <a:rPr lang="en-US" sz="2200" b="1" kern="100" dirty="0">
                <a:effectLst/>
                <a:latin typeface="Aptos" panose="020B0004020202020204" pitchFamily="34" charset="0"/>
                <a:ea typeface="Aptos" panose="020B0004020202020204" pitchFamily="34" charset="0"/>
                <a:cs typeface="Times New Roman" panose="02020603050405020304" pitchFamily="18" charset="0"/>
              </a:rPr>
              <a:t>format</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 that the application layer can understand. For example, it may </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convert data from </a:t>
            </a:r>
            <a:r>
              <a:rPr lang="en-US" sz="2200" b="1" u="sng" kern="100" dirty="0">
                <a:effectLst/>
                <a:latin typeface="Aptos" panose="020B0004020202020204" pitchFamily="34" charset="0"/>
                <a:ea typeface="Aptos" panose="020B0004020202020204" pitchFamily="34" charset="0"/>
                <a:cs typeface="Times New Roman" panose="02020603050405020304" pitchFamily="18" charset="0"/>
              </a:rPr>
              <a:t>ASCII</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 to </a:t>
            </a:r>
            <a:r>
              <a:rPr lang="en-US" sz="2200" b="1" u="sng" kern="100" dirty="0">
                <a:effectLst/>
                <a:latin typeface="Aptos" panose="020B0004020202020204" pitchFamily="34" charset="0"/>
                <a:ea typeface="Aptos" panose="020B0004020202020204" pitchFamily="34" charset="0"/>
                <a:cs typeface="Times New Roman" panose="02020603050405020304" pitchFamily="18" charset="0"/>
              </a:rPr>
              <a:t>EBCDIC</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 It also </a:t>
            </a:r>
            <a:r>
              <a:rPr lang="en-US" sz="2200" b="1" i="1" u="sng" kern="100" dirty="0">
                <a:effectLst/>
                <a:latin typeface="Aptos" panose="020B0004020202020204" pitchFamily="34" charset="0"/>
                <a:ea typeface="Aptos" panose="020B0004020202020204" pitchFamily="34" charset="0"/>
                <a:cs typeface="Times New Roman" panose="02020603050405020304" pitchFamily="18" charset="0"/>
              </a:rPr>
              <a:t>includes</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 </a:t>
            </a:r>
            <a:r>
              <a:rPr lang="en-US" sz="2200" b="1" u="sng" kern="100" dirty="0">
                <a:effectLst/>
                <a:latin typeface="Aptos" panose="020B0004020202020204" pitchFamily="34" charset="0"/>
                <a:ea typeface="Aptos" panose="020B0004020202020204" pitchFamily="34" charset="0"/>
                <a:cs typeface="Times New Roman" panose="02020603050405020304" pitchFamily="18" charset="0"/>
              </a:rPr>
              <a:t>encryption protocols </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to ensure data security during transmission and </a:t>
            </a:r>
            <a:r>
              <a:rPr lang="en-US" sz="2200" b="1" u="sng" kern="100" dirty="0">
                <a:effectLst/>
                <a:latin typeface="Aptos" panose="020B0004020202020204" pitchFamily="34" charset="0"/>
                <a:ea typeface="Aptos" panose="020B0004020202020204" pitchFamily="34" charset="0"/>
                <a:cs typeface="Times New Roman" panose="02020603050405020304" pitchFamily="18" charset="0"/>
              </a:rPr>
              <a:t>compression</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 </a:t>
            </a:r>
            <a:r>
              <a:rPr lang="en-US" sz="2200" b="1" u="sng" kern="100" dirty="0">
                <a:effectLst/>
                <a:latin typeface="Aptos" panose="020B0004020202020204" pitchFamily="34" charset="0"/>
                <a:ea typeface="Aptos" panose="020B0004020202020204" pitchFamily="34" charset="0"/>
                <a:cs typeface="Times New Roman" panose="02020603050405020304" pitchFamily="18" charset="0"/>
              </a:rPr>
              <a:t>protocols</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 to reduce the amount of data for efficient transmission.</a:t>
            </a:r>
          </a:p>
        </p:txBody>
      </p:sp>
      <p:pic>
        <p:nvPicPr>
          <p:cNvPr id="4" name="Picture 3" descr="presentation layer">
            <a:extLst>
              <a:ext uri="{FF2B5EF4-FFF2-40B4-BE49-F238E27FC236}">
                <a16:creationId xmlns:a16="http://schemas.microsoft.com/office/drawing/2014/main" id="{E11178CD-7331-7ABF-A90E-DB3FBB5DE01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206875" y="1009650"/>
            <a:ext cx="5657850" cy="2279650"/>
          </a:xfrm>
          <a:prstGeom prst="rect">
            <a:avLst/>
          </a:prstGeom>
          <a:noFill/>
          <a:ln>
            <a:noFill/>
          </a:ln>
        </p:spPr>
      </p:pic>
      <p:pic>
        <p:nvPicPr>
          <p:cNvPr id="5" name="Picture 4">
            <a:extLst>
              <a:ext uri="{FF2B5EF4-FFF2-40B4-BE49-F238E27FC236}">
                <a16:creationId xmlns:a16="http://schemas.microsoft.com/office/drawing/2014/main" id="{295266AA-B912-4A28-4EA3-C740FB4001E0}"/>
              </a:ext>
            </a:extLst>
          </p:cNvPr>
          <p:cNvPicPr>
            <a:picLocks noChangeAspect="1"/>
          </p:cNvPicPr>
          <p:nvPr/>
        </p:nvPicPr>
        <p:blipFill>
          <a:blip r:embed="rId3"/>
          <a:stretch>
            <a:fillRect/>
          </a:stretch>
        </p:blipFill>
        <p:spPr>
          <a:xfrm>
            <a:off x="9824400" y="111513"/>
            <a:ext cx="2025752" cy="2977016"/>
          </a:xfrm>
          <a:prstGeom prst="rect">
            <a:avLst/>
          </a:prstGeom>
        </p:spPr>
      </p:pic>
    </p:spTree>
    <p:extLst>
      <p:ext uri="{BB962C8B-B14F-4D97-AF65-F5344CB8AC3E}">
        <p14:creationId xmlns:p14="http://schemas.microsoft.com/office/powerpoint/2010/main" val="2908982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0412E-6C24-CD7E-EF39-4A53D4F943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3437C4-E184-16B9-6E33-7EB18D4DB218}"/>
              </a:ext>
            </a:extLst>
          </p:cNvPr>
          <p:cNvSpPr>
            <a:spLocks noGrp="1"/>
          </p:cNvSpPr>
          <p:nvPr>
            <p:ph type="title"/>
          </p:nvPr>
        </p:nvSpPr>
        <p:spPr>
          <a:xfrm>
            <a:off x="838200" y="365125"/>
            <a:ext cx="10515600" cy="892175"/>
          </a:xfrm>
        </p:spPr>
        <p:txBody>
          <a:bodyPr>
            <a:normAutofit/>
          </a:bodyPr>
          <a:lstStyle/>
          <a:p>
            <a:r>
              <a:rPr lang="en-US" sz="2800" dirty="0">
                <a:effectLst/>
                <a:latin typeface="Aptos" panose="020B0004020202020204" pitchFamily="34" charset="0"/>
                <a:ea typeface="Aptos" panose="020B0004020202020204" pitchFamily="34" charset="0"/>
                <a:cs typeface="Times New Roman" panose="02020603050405020304" pitchFamily="18" charset="0"/>
              </a:rPr>
              <a:t>Open Systems Interconnection (OSI) model </a:t>
            </a:r>
            <a:endParaRPr lang="en-US" sz="6000" dirty="0"/>
          </a:p>
        </p:txBody>
      </p:sp>
      <p:sp>
        <p:nvSpPr>
          <p:cNvPr id="3" name="Content Placeholder 2">
            <a:extLst>
              <a:ext uri="{FF2B5EF4-FFF2-40B4-BE49-F238E27FC236}">
                <a16:creationId xmlns:a16="http://schemas.microsoft.com/office/drawing/2014/main" id="{ED7FF8BC-DDD0-A996-FD6B-82124EE500F0}"/>
              </a:ext>
            </a:extLst>
          </p:cNvPr>
          <p:cNvSpPr>
            <a:spLocks noGrp="1"/>
          </p:cNvSpPr>
          <p:nvPr>
            <p:ph idx="1"/>
          </p:nvPr>
        </p:nvSpPr>
        <p:spPr>
          <a:xfrm>
            <a:off x="838200" y="1663700"/>
            <a:ext cx="10515600" cy="4829175"/>
          </a:xfrm>
        </p:spPr>
        <p:txBody>
          <a:bodyPr>
            <a:normAutofit fontScale="92500" lnSpcReduction="10000"/>
          </a:bodyPr>
          <a:lstStyle/>
          <a:p>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pPr>
            <a:r>
              <a:rPr lang="en-US" sz="2600" b="1" kern="100" dirty="0">
                <a:effectLst/>
                <a:latin typeface="Aptos" panose="020B0004020202020204" pitchFamily="34" charset="0"/>
                <a:ea typeface="Aptos" panose="020B0004020202020204" pitchFamily="34" charset="0"/>
                <a:cs typeface="Times New Roman" panose="02020603050405020304" pitchFamily="18" charset="0"/>
              </a:rPr>
              <a:t>5. Session Layer</a:t>
            </a:r>
            <a:endParaRPr lang="en-US" sz="26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pPr>
            <a:r>
              <a:rPr lang="en-US" sz="2200" kern="100" dirty="0">
                <a:effectLst/>
                <a:latin typeface="Aptos" panose="020B0004020202020204" pitchFamily="34" charset="0"/>
                <a:ea typeface="Aptos" panose="020B0004020202020204" pitchFamily="34" charset="0"/>
                <a:cs typeface="Times New Roman" panose="02020603050405020304" pitchFamily="18" charset="0"/>
              </a:rPr>
              <a:t>The Session Layer manages and </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controls the </a:t>
            </a:r>
            <a:r>
              <a:rPr lang="en-US" sz="2200" b="1" u="sng" kern="100" dirty="0">
                <a:effectLst/>
                <a:latin typeface="Aptos" panose="020B0004020202020204" pitchFamily="34" charset="0"/>
                <a:ea typeface="Aptos" panose="020B0004020202020204" pitchFamily="34" charset="0"/>
                <a:cs typeface="Times New Roman" panose="02020603050405020304" pitchFamily="18" charset="0"/>
              </a:rPr>
              <a:t>connections</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 between computers</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 It </a:t>
            </a:r>
            <a:r>
              <a:rPr lang="en-US" sz="2200" b="1" i="1" kern="100" dirty="0">
                <a:effectLst/>
                <a:latin typeface="Aptos" panose="020B0004020202020204" pitchFamily="34" charset="0"/>
                <a:ea typeface="Aptos" panose="020B0004020202020204" pitchFamily="34" charset="0"/>
                <a:cs typeface="Times New Roman" panose="02020603050405020304" pitchFamily="18" charset="0"/>
              </a:rPr>
              <a:t>establishes</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200" b="1" i="1" kern="100" dirty="0">
                <a:latin typeface="Aptos" panose="020B0004020202020204" pitchFamily="34" charset="0"/>
                <a:cs typeface="Times New Roman" panose="02020603050405020304" pitchFamily="18" charset="0"/>
              </a:rPr>
              <a:t>maintains</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 and </a:t>
            </a:r>
            <a:r>
              <a:rPr lang="en-US" sz="2200" b="1" i="1" kern="100" dirty="0">
                <a:latin typeface="Aptos" panose="020B0004020202020204" pitchFamily="34" charset="0"/>
                <a:cs typeface="Times New Roman" panose="02020603050405020304" pitchFamily="18" charset="0"/>
              </a:rPr>
              <a:t>terminates</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 connections, </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ensuring that </a:t>
            </a:r>
            <a:r>
              <a:rPr lang="en-US" sz="2200" b="1" u="sng" kern="100" dirty="0">
                <a:effectLst/>
                <a:latin typeface="Aptos" panose="020B0004020202020204" pitchFamily="34" charset="0"/>
                <a:ea typeface="Aptos" panose="020B0004020202020204" pitchFamily="34" charset="0"/>
                <a:cs typeface="Times New Roman" panose="02020603050405020304" pitchFamily="18" charset="0"/>
              </a:rPr>
              <a:t>data exchanges </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occur </a:t>
            </a:r>
            <a:r>
              <a:rPr lang="en-US" sz="2200" b="1" i="1" u="sng" kern="100" dirty="0">
                <a:effectLst/>
                <a:latin typeface="Aptos" panose="020B0004020202020204" pitchFamily="34" charset="0"/>
                <a:ea typeface="Aptos" panose="020B0004020202020204" pitchFamily="34" charset="0"/>
                <a:cs typeface="Times New Roman" panose="02020603050405020304" pitchFamily="18" charset="0"/>
              </a:rPr>
              <a:t>efficiently</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 and in an </a:t>
            </a:r>
            <a:r>
              <a:rPr lang="en-US" sz="2200" b="1" i="1" u="sng" kern="100" dirty="0">
                <a:effectLst/>
                <a:latin typeface="Aptos" panose="020B0004020202020204" pitchFamily="34" charset="0"/>
                <a:ea typeface="Aptos" panose="020B0004020202020204" pitchFamily="34" charset="0"/>
                <a:cs typeface="Times New Roman" panose="02020603050405020304" pitchFamily="18" charset="0"/>
              </a:rPr>
              <a:t>organized manner</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 </a:t>
            </a:r>
          </a:p>
          <a:p>
            <a:pPr marL="0" marR="0">
              <a:lnSpc>
                <a:spcPct val="115000"/>
              </a:lnSpc>
              <a:spcAft>
                <a:spcPts val="800"/>
              </a:spcAft>
            </a:pPr>
            <a:r>
              <a:rPr lang="en-US" sz="2200" kern="100" dirty="0">
                <a:effectLst/>
                <a:latin typeface="Aptos" panose="020B0004020202020204" pitchFamily="34" charset="0"/>
                <a:ea typeface="Aptos" panose="020B0004020202020204" pitchFamily="34" charset="0"/>
                <a:cs typeface="Times New Roman" panose="02020603050405020304" pitchFamily="18" charset="0"/>
              </a:rPr>
              <a:t>The layer is </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responsible for </a:t>
            </a:r>
            <a:r>
              <a:rPr lang="en-US" sz="2200" b="1" u="sng" kern="100" dirty="0">
                <a:effectLst/>
                <a:latin typeface="Aptos" panose="020B0004020202020204" pitchFamily="34" charset="0"/>
                <a:ea typeface="Aptos" panose="020B0004020202020204" pitchFamily="34" charset="0"/>
                <a:cs typeface="Times New Roman" panose="02020603050405020304" pitchFamily="18" charset="0"/>
              </a:rPr>
              <a:t>session checkpointing </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and </a:t>
            </a:r>
            <a:r>
              <a:rPr lang="en-US" sz="2200" b="1" u="sng" kern="100" dirty="0">
                <a:effectLst/>
                <a:latin typeface="Aptos" panose="020B0004020202020204" pitchFamily="34" charset="0"/>
                <a:ea typeface="Aptos" panose="020B0004020202020204" pitchFamily="34" charset="0"/>
                <a:cs typeface="Times New Roman" panose="02020603050405020304" pitchFamily="18" charset="0"/>
              </a:rPr>
              <a:t>recovery</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which allows sessions to resume after interruptions.</a:t>
            </a:r>
          </a:p>
          <a:p>
            <a:pPr marL="0" marR="0">
              <a:lnSpc>
                <a:spcPct val="115000"/>
              </a:lnSpc>
              <a:spcAft>
                <a:spcPts val="800"/>
              </a:spcAft>
            </a:pPr>
            <a:r>
              <a:rPr lang="en-US" sz="2200" b="1" i="1" kern="100" dirty="0">
                <a:effectLst/>
                <a:latin typeface="Aptos" panose="020B0004020202020204" pitchFamily="34" charset="0"/>
                <a:ea typeface="Aptos" panose="020B0004020202020204" pitchFamily="34" charset="0"/>
                <a:cs typeface="Times New Roman" panose="02020603050405020304" pitchFamily="18" charset="0"/>
              </a:rPr>
              <a:t>Protocols</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 operating at the Session Layer include </a:t>
            </a:r>
            <a:r>
              <a:rPr lang="en-US" sz="2200" b="1" kern="100" dirty="0">
                <a:effectLst/>
                <a:latin typeface="Aptos" panose="020B0004020202020204" pitchFamily="34" charset="0"/>
                <a:ea typeface="Aptos" panose="020B0004020202020204" pitchFamily="34" charset="0"/>
                <a:cs typeface="Times New Roman" panose="02020603050405020304" pitchFamily="18" charset="0"/>
              </a:rPr>
              <a:t>Remote Procedure Call (RPC), </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which enables a program to execute a procedure on a remote host </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as if it were local, and </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the session establishment phase in protocols like </a:t>
            </a:r>
            <a:r>
              <a:rPr lang="en-US" sz="2200" b="1" u="sng" kern="100" dirty="0">
                <a:effectLst/>
                <a:latin typeface="Aptos" panose="020B0004020202020204" pitchFamily="34" charset="0"/>
                <a:ea typeface="Aptos" panose="020B0004020202020204" pitchFamily="34" charset="0"/>
                <a:cs typeface="Times New Roman" panose="02020603050405020304" pitchFamily="18" charset="0"/>
              </a:rPr>
              <a:t>NetBIOS</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 and </a:t>
            </a:r>
            <a:r>
              <a:rPr lang="en-US" sz="2200" b="1" u="sng" kern="100" dirty="0">
                <a:effectLst/>
                <a:latin typeface="Aptos" panose="020B0004020202020204" pitchFamily="34" charset="0"/>
                <a:ea typeface="Aptos" panose="020B0004020202020204" pitchFamily="34" charset="0"/>
                <a:cs typeface="Times New Roman" panose="02020603050405020304" pitchFamily="18" charset="0"/>
              </a:rPr>
              <a:t>SQL</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200" u="sng" kern="100" dirty="0">
                <a:effectLst/>
                <a:latin typeface="Aptos" panose="020B0004020202020204" pitchFamily="34" charset="0"/>
                <a:ea typeface="Aptos" panose="020B0004020202020204" pitchFamily="34" charset="0"/>
                <a:cs typeface="Times New Roman" panose="02020603050405020304" pitchFamily="18" charset="0"/>
              </a:rPr>
              <a:t>These services enable reliable communication, especially in complex network environments</a:t>
            </a:r>
            <a:r>
              <a:rPr lang="en-US" sz="2200" kern="100" dirty="0">
                <a:effectLst/>
                <a:latin typeface="Aptos" panose="020B0004020202020204" pitchFamily="34" charset="0"/>
                <a:ea typeface="Aptos" panose="020B0004020202020204" pitchFamily="34" charset="0"/>
                <a:cs typeface="Times New Roman" panose="02020603050405020304" pitchFamily="18" charset="0"/>
              </a:rPr>
              <a:t>.</a:t>
            </a:r>
          </a:p>
        </p:txBody>
      </p:sp>
      <p:pic>
        <p:nvPicPr>
          <p:cNvPr id="5" name="Picture 4" descr="session layer">
            <a:extLst>
              <a:ext uri="{FF2B5EF4-FFF2-40B4-BE49-F238E27FC236}">
                <a16:creationId xmlns:a16="http://schemas.microsoft.com/office/drawing/2014/main" id="{C4E1A5C9-969F-DACF-EA2B-74E724ADD9E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44886" y="1055915"/>
            <a:ext cx="4199854" cy="1893660"/>
          </a:xfrm>
          <a:prstGeom prst="rect">
            <a:avLst/>
          </a:prstGeom>
          <a:noFill/>
          <a:ln>
            <a:noFill/>
          </a:ln>
        </p:spPr>
      </p:pic>
      <p:pic>
        <p:nvPicPr>
          <p:cNvPr id="4" name="Picture 3">
            <a:extLst>
              <a:ext uri="{FF2B5EF4-FFF2-40B4-BE49-F238E27FC236}">
                <a16:creationId xmlns:a16="http://schemas.microsoft.com/office/drawing/2014/main" id="{4EA2C9D5-60F8-8148-3E02-1DB5C8666DD2}"/>
              </a:ext>
            </a:extLst>
          </p:cNvPr>
          <p:cNvPicPr>
            <a:picLocks noChangeAspect="1"/>
          </p:cNvPicPr>
          <p:nvPr/>
        </p:nvPicPr>
        <p:blipFill>
          <a:blip r:embed="rId3"/>
          <a:stretch>
            <a:fillRect/>
          </a:stretch>
        </p:blipFill>
        <p:spPr>
          <a:xfrm>
            <a:off x="9824400" y="111513"/>
            <a:ext cx="2025752" cy="2977016"/>
          </a:xfrm>
          <a:prstGeom prst="rect">
            <a:avLst/>
          </a:prstGeom>
        </p:spPr>
      </p:pic>
    </p:spTree>
    <p:extLst>
      <p:ext uri="{BB962C8B-B14F-4D97-AF65-F5344CB8AC3E}">
        <p14:creationId xmlns:p14="http://schemas.microsoft.com/office/powerpoint/2010/main" val="2188191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62894-1257-0F48-8622-A7258FED25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FF0ED4-031F-E551-7D75-D202ACC5383F}"/>
              </a:ext>
            </a:extLst>
          </p:cNvPr>
          <p:cNvSpPr>
            <a:spLocks noGrp="1"/>
          </p:cNvSpPr>
          <p:nvPr>
            <p:ph type="title"/>
          </p:nvPr>
        </p:nvSpPr>
        <p:spPr>
          <a:xfrm>
            <a:off x="838200" y="365125"/>
            <a:ext cx="10515600" cy="892175"/>
          </a:xfrm>
        </p:spPr>
        <p:txBody>
          <a:bodyPr>
            <a:normAutofit/>
          </a:bodyPr>
          <a:lstStyle/>
          <a:p>
            <a:r>
              <a:rPr lang="en-US" sz="2800" dirty="0">
                <a:effectLst/>
                <a:latin typeface="Aptos" panose="020B0004020202020204" pitchFamily="34" charset="0"/>
                <a:ea typeface="Aptos" panose="020B0004020202020204" pitchFamily="34" charset="0"/>
                <a:cs typeface="Times New Roman" panose="02020603050405020304" pitchFamily="18" charset="0"/>
              </a:rPr>
              <a:t>Open Systems Interconnection (OSI) model </a:t>
            </a:r>
            <a:endParaRPr lang="en-US" sz="6000" dirty="0"/>
          </a:p>
        </p:txBody>
      </p:sp>
      <p:sp>
        <p:nvSpPr>
          <p:cNvPr id="3" name="Content Placeholder 2">
            <a:extLst>
              <a:ext uri="{FF2B5EF4-FFF2-40B4-BE49-F238E27FC236}">
                <a16:creationId xmlns:a16="http://schemas.microsoft.com/office/drawing/2014/main" id="{1E1895FC-A995-D9C4-E26D-C17F88862E8F}"/>
              </a:ext>
            </a:extLst>
          </p:cNvPr>
          <p:cNvSpPr>
            <a:spLocks noGrp="1"/>
          </p:cNvSpPr>
          <p:nvPr>
            <p:ph idx="1"/>
          </p:nvPr>
        </p:nvSpPr>
        <p:spPr>
          <a:xfrm>
            <a:off x="838200" y="1663700"/>
            <a:ext cx="10998200" cy="4829175"/>
          </a:xfrm>
        </p:spPr>
        <p:txBody>
          <a:bodyPr>
            <a:normAutofit lnSpcReduction="10000"/>
          </a:bodyPr>
          <a:lstStyle/>
          <a:p>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Aft>
                <a:spcPts val="800"/>
              </a:spcAft>
              <a:buNone/>
            </a:pPr>
            <a:r>
              <a:rPr lang="en-US" sz="2400" b="1" kern="100" dirty="0">
                <a:latin typeface="Aptos" panose="020B0004020202020204" pitchFamily="34" charset="0"/>
                <a:cs typeface="Times New Roman" panose="02020603050405020304" pitchFamily="18" charset="0"/>
              </a:rPr>
              <a:t>4. Transport Layer</a:t>
            </a:r>
          </a:p>
          <a:p>
            <a:pPr marL="0" marR="0">
              <a:lnSpc>
                <a:spcPct val="115000"/>
              </a:lnSpc>
              <a:spcAft>
                <a:spcPts val="800"/>
              </a:spcAf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The Transport Layer provides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end-to-end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communication services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for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applications</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It ensures complete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data transfer</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error recovery</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 and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flow control between hosts</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 </a:t>
            </a:r>
          </a:p>
          <a:p>
            <a:pPr marL="0" marR="0">
              <a:lnSpc>
                <a:spcPct val="115000"/>
              </a:lnSpc>
              <a:spcAft>
                <a:spcPts val="800"/>
              </a:spcAft>
            </a:pP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This layer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segments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and</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 reassembles data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for efficient transmission </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and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provides reliability with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error detection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and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correction mechanisms</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a:lnSpc>
                <a:spcPct val="115000"/>
              </a:lnSpc>
              <a:spcAft>
                <a:spcPts val="800"/>
              </a:spcAf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Protocols at this layer include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Transmission Control Protocol</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(TCP) and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User Datagram Protocol</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(UDP).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TCP is connection-oriented and ensures reliable data transfer with error checking and flow control</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making it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suitable for applications like web browsing and email</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UDP is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connectionless</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 offering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faster</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 though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less reliable</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transmission</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 suitable for applications like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video streaming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and</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 online gaming</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a:t>
            </a:r>
          </a:p>
        </p:txBody>
      </p:sp>
      <p:pic>
        <p:nvPicPr>
          <p:cNvPr id="4" name="Picture 3">
            <a:extLst>
              <a:ext uri="{FF2B5EF4-FFF2-40B4-BE49-F238E27FC236}">
                <a16:creationId xmlns:a16="http://schemas.microsoft.com/office/drawing/2014/main" id="{2747EAD9-790A-8494-8899-2840B0E3921E}"/>
              </a:ext>
            </a:extLst>
          </p:cNvPr>
          <p:cNvPicPr>
            <a:picLocks noChangeAspect="1"/>
          </p:cNvPicPr>
          <p:nvPr/>
        </p:nvPicPr>
        <p:blipFill>
          <a:blip r:embed="rId3"/>
          <a:stretch>
            <a:fillRect/>
          </a:stretch>
        </p:blipFill>
        <p:spPr>
          <a:xfrm>
            <a:off x="4461011" y="1034147"/>
            <a:ext cx="4949689" cy="1769604"/>
          </a:xfrm>
          <a:prstGeom prst="rect">
            <a:avLst/>
          </a:prstGeom>
        </p:spPr>
      </p:pic>
      <p:pic>
        <p:nvPicPr>
          <p:cNvPr id="5" name="Picture 4">
            <a:extLst>
              <a:ext uri="{FF2B5EF4-FFF2-40B4-BE49-F238E27FC236}">
                <a16:creationId xmlns:a16="http://schemas.microsoft.com/office/drawing/2014/main" id="{B68EF312-E81C-7BCD-8EDB-E0625C695DC1}"/>
              </a:ext>
            </a:extLst>
          </p:cNvPr>
          <p:cNvPicPr>
            <a:picLocks noChangeAspect="1"/>
          </p:cNvPicPr>
          <p:nvPr/>
        </p:nvPicPr>
        <p:blipFill>
          <a:blip r:embed="rId4"/>
          <a:stretch>
            <a:fillRect/>
          </a:stretch>
        </p:blipFill>
        <p:spPr>
          <a:xfrm>
            <a:off x="9824400" y="111513"/>
            <a:ext cx="2025752" cy="2977016"/>
          </a:xfrm>
          <a:prstGeom prst="rect">
            <a:avLst/>
          </a:prstGeom>
        </p:spPr>
      </p:pic>
    </p:spTree>
    <p:extLst>
      <p:ext uri="{BB962C8B-B14F-4D97-AF65-F5344CB8AC3E}">
        <p14:creationId xmlns:p14="http://schemas.microsoft.com/office/powerpoint/2010/main" val="18284429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40ADB-5169-EF72-3AEC-3A3AC0993349}"/>
            </a:ext>
          </a:extLst>
        </p:cNvPr>
        <p:cNvGrpSpPr/>
        <p:nvPr/>
      </p:nvGrpSpPr>
      <p:grpSpPr>
        <a:xfrm>
          <a:off x="0" y="0"/>
          <a:ext cx="0" cy="0"/>
          <a:chOff x="0" y="0"/>
          <a:chExt cx="0" cy="0"/>
        </a:xfrm>
      </p:grpSpPr>
      <p:pic>
        <p:nvPicPr>
          <p:cNvPr id="3" name="Picture 2" descr="A computer screen shot of a computer&#10;&#10;AI-generated content may be incorrect.">
            <a:extLst>
              <a:ext uri="{FF2B5EF4-FFF2-40B4-BE49-F238E27FC236}">
                <a16:creationId xmlns:a16="http://schemas.microsoft.com/office/drawing/2014/main" id="{43494633-7F6A-F21B-2F67-BAD5BB8B66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900" y="50004"/>
            <a:ext cx="11976100" cy="6736557"/>
          </a:xfrm>
          <a:prstGeom prst="rect">
            <a:avLst/>
          </a:prstGeom>
        </p:spPr>
      </p:pic>
    </p:spTree>
    <p:extLst>
      <p:ext uri="{BB962C8B-B14F-4D97-AF65-F5344CB8AC3E}">
        <p14:creationId xmlns:p14="http://schemas.microsoft.com/office/powerpoint/2010/main" val="3125873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33BE2-7F50-61AB-32CC-B2BB03E19D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775EC8-D2F2-56D0-A288-1D76A79E3993}"/>
              </a:ext>
            </a:extLst>
          </p:cNvPr>
          <p:cNvSpPr>
            <a:spLocks noGrp="1"/>
          </p:cNvSpPr>
          <p:nvPr>
            <p:ph type="title"/>
          </p:nvPr>
        </p:nvSpPr>
        <p:spPr>
          <a:xfrm>
            <a:off x="838200" y="365125"/>
            <a:ext cx="10515600" cy="892175"/>
          </a:xfrm>
        </p:spPr>
        <p:txBody>
          <a:bodyPr>
            <a:normAutofit/>
          </a:bodyPr>
          <a:lstStyle/>
          <a:p>
            <a:r>
              <a:rPr lang="en-US" sz="2800" dirty="0">
                <a:effectLst/>
                <a:latin typeface="Aptos" panose="020B0004020202020204" pitchFamily="34" charset="0"/>
                <a:ea typeface="Aptos" panose="020B0004020202020204" pitchFamily="34" charset="0"/>
                <a:cs typeface="Times New Roman" panose="02020603050405020304" pitchFamily="18" charset="0"/>
              </a:rPr>
              <a:t>Open Systems Interconnection (OSI) model </a:t>
            </a:r>
            <a:endParaRPr lang="en-US" sz="6000" dirty="0"/>
          </a:p>
        </p:txBody>
      </p:sp>
      <p:sp>
        <p:nvSpPr>
          <p:cNvPr id="3" name="Content Placeholder 2">
            <a:extLst>
              <a:ext uri="{FF2B5EF4-FFF2-40B4-BE49-F238E27FC236}">
                <a16:creationId xmlns:a16="http://schemas.microsoft.com/office/drawing/2014/main" id="{2C14FAB2-C7DF-DD40-B68C-6A422A78CB93}"/>
              </a:ext>
            </a:extLst>
          </p:cNvPr>
          <p:cNvSpPr>
            <a:spLocks noGrp="1"/>
          </p:cNvSpPr>
          <p:nvPr>
            <p:ph idx="1"/>
          </p:nvPr>
        </p:nvSpPr>
        <p:spPr>
          <a:xfrm>
            <a:off x="838200" y="1663700"/>
            <a:ext cx="10998200" cy="4829175"/>
          </a:xfrm>
        </p:spPr>
        <p:txBody>
          <a:bodyPr>
            <a:normAutofit lnSpcReduction="10000"/>
          </a:bodyPr>
          <a:lstStyle/>
          <a:p>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Aft>
                <a:spcPts val="800"/>
              </a:spcAft>
              <a:buNone/>
            </a:pPr>
            <a:r>
              <a:rPr lang="en-US" sz="2400" b="1" kern="100" dirty="0">
                <a:latin typeface="Aptos" panose="020B0004020202020204" pitchFamily="34" charset="0"/>
                <a:cs typeface="Times New Roman" panose="02020603050405020304" pitchFamily="18" charset="0"/>
              </a:rPr>
              <a:t>3. Network Layer</a:t>
            </a:r>
          </a:p>
          <a:p>
            <a:pPr marL="0" marR="0">
              <a:lnSpc>
                <a:spcPct val="115000"/>
              </a:lnSpc>
              <a:spcAft>
                <a:spcPts val="800"/>
              </a:spcAf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The Network Layer is responsible for </a:t>
            </a:r>
            <a:r>
              <a:rPr lang="en-US" sz="2000" b="1" i="1" kern="100" dirty="0">
                <a:effectLst/>
                <a:latin typeface="Aptos" panose="020B0004020202020204" pitchFamily="34" charset="0"/>
                <a:ea typeface="Aptos" panose="020B0004020202020204" pitchFamily="34" charset="0"/>
                <a:cs typeface="Times New Roman" panose="02020603050405020304" pitchFamily="18" charset="0"/>
              </a:rPr>
              <a:t>data</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 routing</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forwarding</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and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addressing</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t>
            </a:r>
          </a:p>
          <a:p>
            <a:pPr marL="0" marR="0">
              <a:lnSpc>
                <a:spcPct val="115000"/>
              </a:lnSpc>
              <a:spcAft>
                <a:spcPts val="800"/>
              </a:spcAf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It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determines the best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physical path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for data to reach its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destination</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 based on </a:t>
            </a:r>
            <a:r>
              <a:rPr lang="en-US" sz="2000" b="1" i="1" u="sng" kern="100" dirty="0">
                <a:effectLst/>
                <a:latin typeface="Aptos" panose="020B0004020202020204" pitchFamily="34" charset="0"/>
                <a:ea typeface="Aptos" panose="020B0004020202020204" pitchFamily="34" charset="0"/>
                <a:cs typeface="Times New Roman" panose="02020603050405020304" pitchFamily="18" charset="0"/>
              </a:rPr>
              <a:t>network conditions</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 the </a:t>
            </a:r>
            <a:r>
              <a:rPr lang="en-US" sz="2000" b="1" i="1" u="sng" kern="100" dirty="0">
                <a:effectLst/>
                <a:latin typeface="Aptos" panose="020B0004020202020204" pitchFamily="34" charset="0"/>
                <a:ea typeface="Aptos" panose="020B0004020202020204" pitchFamily="34" charset="0"/>
                <a:cs typeface="Times New Roman" panose="02020603050405020304" pitchFamily="18" charset="0"/>
              </a:rPr>
              <a:t>priority of service</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 and </a:t>
            </a:r>
            <a:r>
              <a:rPr lang="en-US" sz="2000" b="1" i="1" u="sng" kern="100" dirty="0">
                <a:effectLst/>
                <a:latin typeface="Aptos" panose="020B0004020202020204" pitchFamily="34" charset="0"/>
                <a:ea typeface="Aptos" panose="020B0004020202020204" pitchFamily="34" charset="0"/>
                <a:cs typeface="Times New Roman" panose="02020603050405020304" pitchFamily="18" charset="0"/>
              </a:rPr>
              <a:t>other factors</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This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layer manages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logical addressing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through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IP addresses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and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handles packet forwarding</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a:lnSpc>
                <a:spcPct val="115000"/>
              </a:lnSpc>
              <a:spcAft>
                <a:spcPts val="800"/>
              </a:spcAft>
            </a:pPr>
            <a:r>
              <a:rPr lang="en-US" sz="2000" b="1" i="1" kern="100" dirty="0">
                <a:effectLst/>
                <a:latin typeface="Aptos" panose="020B0004020202020204" pitchFamily="34" charset="0"/>
                <a:ea typeface="Aptos" panose="020B0004020202020204" pitchFamily="34" charset="0"/>
                <a:cs typeface="Times New Roman" panose="02020603050405020304" pitchFamily="18" charset="0"/>
              </a:rPr>
              <a:t>Key protocols </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at this layer include the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Internet Protocol (IP), </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which is important for </a:t>
            </a:r>
            <a:r>
              <a:rPr lang="en-US" sz="2000" b="1" i="1" kern="100" dirty="0">
                <a:effectLst/>
                <a:latin typeface="Aptos" panose="020B0004020202020204" pitchFamily="34" charset="0"/>
                <a:ea typeface="Aptos" panose="020B0004020202020204" pitchFamily="34" charset="0"/>
                <a:cs typeface="Times New Roman" panose="02020603050405020304" pitchFamily="18" charset="0"/>
              </a:rPr>
              <a:t>routing</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and </a:t>
            </a:r>
            <a:r>
              <a:rPr lang="en-US" sz="2000" b="1" i="1" kern="100" dirty="0">
                <a:effectLst/>
                <a:latin typeface="Aptos" panose="020B0004020202020204" pitchFamily="34" charset="0"/>
                <a:ea typeface="Aptos" panose="020B0004020202020204" pitchFamily="34" charset="0"/>
                <a:cs typeface="Times New Roman" panose="02020603050405020304" pitchFamily="18" charset="0"/>
              </a:rPr>
              <a:t>addressing</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Internet Control Message Protocol (ICMP) </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for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diagnostic and error-reporting purposes</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and </a:t>
            </a:r>
            <a:r>
              <a:rPr lang="en-US" sz="2000" b="1" i="1" kern="100" dirty="0">
                <a:effectLst/>
                <a:latin typeface="Aptos" panose="020B0004020202020204" pitchFamily="34" charset="0"/>
                <a:ea typeface="Aptos" panose="020B0004020202020204" pitchFamily="34" charset="0"/>
                <a:cs typeface="Times New Roman" panose="02020603050405020304" pitchFamily="18" charset="0"/>
              </a:rPr>
              <a:t>routing protocols </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like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Routing Information Protocol (RIP) </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that manage the routing of data across networks.</a:t>
            </a:r>
          </a:p>
          <a:p>
            <a:pPr marL="0" indent="0">
              <a:lnSpc>
                <a:spcPct val="115000"/>
              </a:lnSpc>
              <a:spcAft>
                <a:spcPts val="800"/>
              </a:spcAft>
              <a:buNone/>
            </a:pPr>
            <a:endParaRPr lang="en-US" sz="2400" b="1" kern="100" dirty="0">
              <a:latin typeface="Aptos" panose="020B0004020202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C6CA2E73-C9C0-A4B5-B62E-DEE83CE8B246}"/>
              </a:ext>
            </a:extLst>
          </p:cNvPr>
          <p:cNvPicPr>
            <a:picLocks noChangeAspect="1"/>
          </p:cNvPicPr>
          <p:nvPr/>
        </p:nvPicPr>
        <p:blipFill>
          <a:blip r:embed="rId2"/>
          <a:stretch>
            <a:fillRect/>
          </a:stretch>
        </p:blipFill>
        <p:spPr>
          <a:xfrm>
            <a:off x="4219711" y="984659"/>
            <a:ext cx="5165589" cy="1933391"/>
          </a:xfrm>
          <a:prstGeom prst="rect">
            <a:avLst/>
          </a:prstGeom>
        </p:spPr>
      </p:pic>
      <p:pic>
        <p:nvPicPr>
          <p:cNvPr id="5" name="Picture 4">
            <a:extLst>
              <a:ext uri="{FF2B5EF4-FFF2-40B4-BE49-F238E27FC236}">
                <a16:creationId xmlns:a16="http://schemas.microsoft.com/office/drawing/2014/main" id="{31D67C6B-868D-FF25-82BB-A2ACBB11CAF1}"/>
              </a:ext>
            </a:extLst>
          </p:cNvPr>
          <p:cNvPicPr>
            <a:picLocks noChangeAspect="1"/>
          </p:cNvPicPr>
          <p:nvPr/>
        </p:nvPicPr>
        <p:blipFill>
          <a:blip r:embed="rId3"/>
          <a:stretch>
            <a:fillRect/>
          </a:stretch>
        </p:blipFill>
        <p:spPr>
          <a:xfrm>
            <a:off x="9824400" y="111513"/>
            <a:ext cx="2025752" cy="2977016"/>
          </a:xfrm>
          <a:prstGeom prst="rect">
            <a:avLst/>
          </a:prstGeom>
        </p:spPr>
      </p:pic>
    </p:spTree>
    <p:extLst>
      <p:ext uri="{BB962C8B-B14F-4D97-AF65-F5344CB8AC3E}">
        <p14:creationId xmlns:p14="http://schemas.microsoft.com/office/powerpoint/2010/main" val="3715883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69CFA-925F-D51C-BD03-D8A8C57D1D9B}"/>
            </a:ext>
          </a:extLst>
        </p:cNvPr>
        <p:cNvGrpSpPr/>
        <p:nvPr/>
      </p:nvGrpSpPr>
      <p:grpSpPr>
        <a:xfrm>
          <a:off x="0" y="0"/>
          <a:ext cx="0" cy="0"/>
          <a:chOff x="0" y="0"/>
          <a:chExt cx="0" cy="0"/>
        </a:xfrm>
      </p:grpSpPr>
      <p:pic>
        <p:nvPicPr>
          <p:cNvPr id="4" name="Picture 3" descr="A computer screen shot of a computer&#10;&#10;AI-generated content may be incorrect.">
            <a:extLst>
              <a:ext uri="{FF2B5EF4-FFF2-40B4-BE49-F238E27FC236}">
                <a16:creationId xmlns:a16="http://schemas.microsoft.com/office/drawing/2014/main" id="{13A74C3B-5552-6888-EB58-ADEF2CDEC7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856" y="61232"/>
            <a:ext cx="11930743" cy="6711043"/>
          </a:xfrm>
          <a:prstGeom prst="rect">
            <a:avLst/>
          </a:prstGeom>
        </p:spPr>
      </p:pic>
    </p:spTree>
    <p:extLst>
      <p:ext uri="{BB962C8B-B14F-4D97-AF65-F5344CB8AC3E}">
        <p14:creationId xmlns:p14="http://schemas.microsoft.com/office/powerpoint/2010/main" val="3665031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057AC-3EBB-3E7D-0F6E-22DD0EE709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DC1B79-A847-7A04-A7AF-3B07CA7D34EA}"/>
              </a:ext>
            </a:extLst>
          </p:cNvPr>
          <p:cNvSpPr>
            <a:spLocks noGrp="1"/>
          </p:cNvSpPr>
          <p:nvPr>
            <p:ph type="title"/>
          </p:nvPr>
        </p:nvSpPr>
        <p:spPr>
          <a:xfrm>
            <a:off x="838200" y="365125"/>
            <a:ext cx="10515600" cy="892175"/>
          </a:xfrm>
        </p:spPr>
        <p:txBody>
          <a:bodyPr>
            <a:normAutofit/>
          </a:bodyPr>
          <a:lstStyle/>
          <a:p>
            <a:r>
              <a:rPr lang="en-US" sz="2800" dirty="0">
                <a:effectLst/>
                <a:latin typeface="Aptos" panose="020B0004020202020204" pitchFamily="34" charset="0"/>
                <a:ea typeface="Aptos" panose="020B0004020202020204" pitchFamily="34" charset="0"/>
                <a:cs typeface="Times New Roman" panose="02020603050405020304" pitchFamily="18" charset="0"/>
              </a:rPr>
              <a:t>Open Systems Interconnection (OSI) model </a:t>
            </a:r>
            <a:endParaRPr lang="en-US" sz="6000" dirty="0"/>
          </a:p>
        </p:txBody>
      </p:sp>
      <p:sp>
        <p:nvSpPr>
          <p:cNvPr id="3" name="Content Placeholder 2">
            <a:extLst>
              <a:ext uri="{FF2B5EF4-FFF2-40B4-BE49-F238E27FC236}">
                <a16:creationId xmlns:a16="http://schemas.microsoft.com/office/drawing/2014/main" id="{6AC02A7A-85D2-AF6D-CDDD-A13CC18156F3}"/>
              </a:ext>
            </a:extLst>
          </p:cNvPr>
          <p:cNvSpPr>
            <a:spLocks noGrp="1"/>
          </p:cNvSpPr>
          <p:nvPr>
            <p:ph idx="1"/>
          </p:nvPr>
        </p:nvSpPr>
        <p:spPr>
          <a:xfrm>
            <a:off x="838200" y="1663700"/>
            <a:ext cx="10998200" cy="4829175"/>
          </a:xfrm>
        </p:spPr>
        <p:txBody>
          <a:bodyPr>
            <a:normAutofit lnSpcReduction="10000"/>
          </a:bodyPr>
          <a:lstStyle/>
          <a:p>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Aft>
                <a:spcPts val="800"/>
              </a:spcAft>
              <a:buNone/>
            </a:pPr>
            <a:r>
              <a:rPr lang="en-US" sz="2400" b="1" kern="100" dirty="0">
                <a:latin typeface="Aptos" panose="020B0004020202020204" pitchFamily="34" charset="0"/>
                <a:cs typeface="Times New Roman" panose="02020603050405020304" pitchFamily="18" charset="0"/>
              </a:rPr>
              <a:t>2. Data Link Layer</a:t>
            </a:r>
          </a:p>
          <a:p>
            <a:pPr marL="0" marR="0">
              <a:lnSpc>
                <a:spcPct val="115000"/>
              </a:lnSpc>
              <a:spcAft>
                <a:spcPts val="800"/>
              </a:spcAf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The Data Link Layer is responsible for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node-to-node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data transfer </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and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error detection </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and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correction</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It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ensures that </a:t>
            </a:r>
            <a:r>
              <a:rPr lang="en-US" sz="2000" b="1" i="1" u="sng" kern="100" dirty="0">
                <a:effectLst/>
                <a:latin typeface="Aptos" panose="020B0004020202020204" pitchFamily="34" charset="0"/>
                <a:ea typeface="Aptos" panose="020B0004020202020204" pitchFamily="34" charset="0"/>
                <a:cs typeface="Times New Roman" panose="02020603050405020304" pitchFamily="18" charset="0"/>
              </a:rPr>
              <a:t>data is transmitted to the correct device </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on a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local network segment</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a:lnSpc>
                <a:spcPct val="115000"/>
              </a:lnSpc>
              <a:spcAft>
                <a:spcPts val="800"/>
              </a:spcAf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 This layer manages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MAC (Media Access Control)</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b="1" i="1" kern="100" dirty="0">
                <a:effectLst/>
                <a:latin typeface="Aptos" panose="020B0004020202020204" pitchFamily="34" charset="0"/>
                <a:ea typeface="Aptos" panose="020B0004020202020204" pitchFamily="34" charset="0"/>
                <a:cs typeface="Times New Roman" panose="02020603050405020304" pitchFamily="18" charset="0"/>
              </a:rPr>
              <a:t>addresses</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and is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divided into two sublayers</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Logical Link Control (LLC) </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and</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 Media Access Control (MAC).</a:t>
            </a:r>
          </a:p>
          <a:p>
            <a:pPr marL="0" marR="0">
              <a:lnSpc>
                <a:spcPct val="115000"/>
              </a:lnSpc>
              <a:spcAft>
                <a:spcPts val="800"/>
              </a:spcAft>
            </a:pPr>
            <a:r>
              <a:rPr lang="en-US" sz="2000" b="1" i="1" kern="100" dirty="0">
                <a:effectLst/>
                <a:latin typeface="Aptos" panose="020B0004020202020204" pitchFamily="34" charset="0"/>
                <a:ea typeface="Aptos" panose="020B0004020202020204" pitchFamily="34" charset="0"/>
                <a:cs typeface="Times New Roman" panose="02020603050405020304" pitchFamily="18" charset="0"/>
              </a:rPr>
              <a:t>Protocols and technologies </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at this layer include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Ethernet</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which defines the </a:t>
            </a:r>
            <a:r>
              <a:rPr lang="en-US" sz="2000" b="1" i="1" u="sng" kern="100" dirty="0">
                <a:effectLst/>
                <a:latin typeface="Aptos" panose="020B0004020202020204" pitchFamily="34" charset="0"/>
                <a:ea typeface="Aptos" panose="020B0004020202020204" pitchFamily="34" charset="0"/>
                <a:cs typeface="Times New Roman" panose="02020603050405020304" pitchFamily="18" charset="0"/>
              </a:rPr>
              <a:t>rules</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 for </a:t>
            </a:r>
            <a:r>
              <a:rPr lang="en-US" sz="2000" b="1" i="1" u="sng" kern="100" dirty="0">
                <a:effectLst/>
                <a:latin typeface="Aptos" panose="020B0004020202020204" pitchFamily="34" charset="0"/>
                <a:ea typeface="Aptos" panose="020B0004020202020204" pitchFamily="34" charset="0"/>
                <a:cs typeface="Times New Roman" panose="02020603050405020304" pitchFamily="18" charset="0"/>
              </a:rPr>
              <a:t>data transmission</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 over local area networks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LANs</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and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Point-to-Point Protocol (PPP) </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for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direct connections between two network nodes</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It also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includes mechanisms for </a:t>
            </a:r>
            <a:r>
              <a:rPr lang="en-US" sz="2000" b="1" i="1" u="sng" kern="100" dirty="0">
                <a:effectLst/>
                <a:latin typeface="Aptos" panose="020B0004020202020204" pitchFamily="34" charset="0"/>
                <a:ea typeface="Aptos" panose="020B0004020202020204" pitchFamily="34" charset="0"/>
                <a:cs typeface="Times New Roman" panose="02020603050405020304" pitchFamily="18" charset="0"/>
              </a:rPr>
              <a:t>detecting</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 and possibly </a:t>
            </a:r>
            <a:r>
              <a:rPr lang="en-US" sz="2000" b="1" i="1" u="sng" kern="100" dirty="0">
                <a:effectLst/>
                <a:latin typeface="Aptos" panose="020B0004020202020204" pitchFamily="34" charset="0"/>
                <a:ea typeface="Aptos" panose="020B0004020202020204" pitchFamily="34" charset="0"/>
                <a:cs typeface="Times New Roman" panose="02020603050405020304" pitchFamily="18" charset="0"/>
              </a:rPr>
              <a:t>correcting errors</a:t>
            </a:r>
            <a:r>
              <a:rPr lang="en-US" sz="2000" b="1" i="1"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that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may occur in the </a:t>
            </a:r>
            <a:r>
              <a:rPr lang="en-US" sz="2000" b="1" i="1" u="sng" kern="100" dirty="0">
                <a:effectLst/>
                <a:latin typeface="Aptos" panose="020B0004020202020204" pitchFamily="34" charset="0"/>
                <a:ea typeface="Aptos" panose="020B0004020202020204" pitchFamily="34" charset="0"/>
                <a:cs typeface="Times New Roman" panose="02020603050405020304" pitchFamily="18" charset="0"/>
              </a:rPr>
              <a:t>Physical Layer</a:t>
            </a:r>
            <a:r>
              <a:rPr lang="en-US" sz="2000" b="1" i="1" kern="100" dirty="0">
                <a:effectLst/>
                <a:latin typeface="Aptos" panose="020B0004020202020204" pitchFamily="34" charset="0"/>
                <a:ea typeface="Aptos" panose="020B0004020202020204" pitchFamily="34" charset="0"/>
                <a:cs typeface="Times New Roman" panose="02020603050405020304" pitchFamily="18" charset="0"/>
              </a:rPr>
              <a:t>.</a:t>
            </a:r>
          </a:p>
          <a:p>
            <a:pPr marL="0" indent="0">
              <a:lnSpc>
                <a:spcPct val="115000"/>
              </a:lnSpc>
              <a:spcAft>
                <a:spcPts val="800"/>
              </a:spcAft>
              <a:buNone/>
            </a:pPr>
            <a:endParaRPr lang="en-US" sz="2400" b="1" kern="100" dirty="0">
              <a:latin typeface="Aptos" panose="020B0004020202020204" pitchFamily="34" charset="0"/>
              <a:cs typeface="Times New Roman" panose="02020603050405020304" pitchFamily="18" charset="0"/>
            </a:endParaRPr>
          </a:p>
        </p:txBody>
      </p:sp>
      <p:pic>
        <p:nvPicPr>
          <p:cNvPr id="4" name="Picture 3" descr="data link layer">
            <a:extLst>
              <a:ext uri="{FF2B5EF4-FFF2-40B4-BE49-F238E27FC236}">
                <a16:creationId xmlns:a16="http://schemas.microsoft.com/office/drawing/2014/main" id="{2721CFAB-FDA1-269E-3FDB-4804D81EB0D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84699" y="999490"/>
            <a:ext cx="4738561" cy="1908810"/>
          </a:xfrm>
          <a:prstGeom prst="rect">
            <a:avLst/>
          </a:prstGeom>
          <a:noFill/>
          <a:ln>
            <a:noFill/>
          </a:ln>
        </p:spPr>
      </p:pic>
      <p:pic>
        <p:nvPicPr>
          <p:cNvPr id="5" name="Picture 4">
            <a:extLst>
              <a:ext uri="{FF2B5EF4-FFF2-40B4-BE49-F238E27FC236}">
                <a16:creationId xmlns:a16="http://schemas.microsoft.com/office/drawing/2014/main" id="{97C8CD48-3AB2-2A41-F9CF-B3ED34BE8339}"/>
              </a:ext>
            </a:extLst>
          </p:cNvPr>
          <p:cNvPicPr>
            <a:picLocks noChangeAspect="1"/>
          </p:cNvPicPr>
          <p:nvPr/>
        </p:nvPicPr>
        <p:blipFill>
          <a:blip r:embed="rId3"/>
          <a:stretch>
            <a:fillRect/>
          </a:stretch>
        </p:blipFill>
        <p:spPr>
          <a:xfrm>
            <a:off x="9824400" y="111513"/>
            <a:ext cx="2025752" cy="2977016"/>
          </a:xfrm>
          <a:prstGeom prst="rect">
            <a:avLst/>
          </a:prstGeom>
        </p:spPr>
      </p:pic>
    </p:spTree>
    <p:extLst>
      <p:ext uri="{BB962C8B-B14F-4D97-AF65-F5344CB8AC3E}">
        <p14:creationId xmlns:p14="http://schemas.microsoft.com/office/powerpoint/2010/main" val="2467640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053C3-FE1C-289C-FA39-8A4BB8B5A65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936D824-07AE-1ABE-F2D4-2A3E3EDDED9D}"/>
              </a:ext>
            </a:extLst>
          </p:cNvPr>
          <p:cNvPicPr>
            <a:picLocks noChangeAspect="1"/>
          </p:cNvPicPr>
          <p:nvPr/>
        </p:nvPicPr>
        <p:blipFill>
          <a:blip r:embed="rId2"/>
          <a:stretch>
            <a:fillRect/>
          </a:stretch>
        </p:blipFill>
        <p:spPr>
          <a:xfrm>
            <a:off x="152400" y="85725"/>
            <a:ext cx="11887200" cy="6686550"/>
          </a:xfrm>
          <a:prstGeom prst="rect">
            <a:avLst/>
          </a:prstGeom>
        </p:spPr>
      </p:pic>
    </p:spTree>
    <p:extLst>
      <p:ext uri="{BB962C8B-B14F-4D97-AF65-F5344CB8AC3E}">
        <p14:creationId xmlns:p14="http://schemas.microsoft.com/office/powerpoint/2010/main" val="3003804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0AEC0-EF8F-543E-8D30-C94CEA5DCA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0DA64F-6AAA-E307-5FCC-85C9C241CF64}"/>
              </a:ext>
            </a:extLst>
          </p:cNvPr>
          <p:cNvSpPr>
            <a:spLocks noGrp="1"/>
          </p:cNvSpPr>
          <p:nvPr>
            <p:ph type="title"/>
          </p:nvPr>
        </p:nvSpPr>
        <p:spPr>
          <a:xfrm>
            <a:off x="838200" y="365125"/>
            <a:ext cx="10515600" cy="892175"/>
          </a:xfrm>
        </p:spPr>
        <p:txBody>
          <a:bodyPr>
            <a:normAutofit/>
          </a:bodyPr>
          <a:lstStyle/>
          <a:p>
            <a:r>
              <a:rPr lang="en-US" sz="2800" dirty="0">
                <a:effectLst/>
                <a:latin typeface="Aptos" panose="020B0004020202020204" pitchFamily="34" charset="0"/>
                <a:ea typeface="Aptos" panose="020B0004020202020204" pitchFamily="34" charset="0"/>
                <a:cs typeface="Times New Roman" panose="02020603050405020304" pitchFamily="18" charset="0"/>
              </a:rPr>
              <a:t>Open Systems Interconnection (OSI) model </a:t>
            </a:r>
            <a:endParaRPr lang="en-US" sz="6000" dirty="0"/>
          </a:p>
        </p:txBody>
      </p:sp>
      <p:sp>
        <p:nvSpPr>
          <p:cNvPr id="3" name="Content Placeholder 2">
            <a:extLst>
              <a:ext uri="{FF2B5EF4-FFF2-40B4-BE49-F238E27FC236}">
                <a16:creationId xmlns:a16="http://schemas.microsoft.com/office/drawing/2014/main" id="{5B62C39F-485B-0DE9-00B3-B5C176D87E6A}"/>
              </a:ext>
            </a:extLst>
          </p:cNvPr>
          <p:cNvSpPr>
            <a:spLocks noGrp="1"/>
          </p:cNvSpPr>
          <p:nvPr>
            <p:ph idx="1"/>
          </p:nvPr>
        </p:nvSpPr>
        <p:spPr>
          <a:xfrm>
            <a:off x="838200" y="1663700"/>
            <a:ext cx="10998200" cy="4829175"/>
          </a:xfrm>
        </p:spPr>
        <p:txBody>
          <a:bodyPr>
            <a:normAutofit lnSpcReduction="10000"/>
          </a:bodyPr>
          <a:lstStyle/>
          <a:p>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Aft>
                <a:spcPts val="800"/>
              </a:spcAft>
              <a:buNone/>
            </a:pPr>
            <a:r>
              <a:rPr lang="en-US" sz="2400" b="1" kern="100" dirty="0">
                <a:latin typeface="Aptos" panose="020B0004020202020204" pitchFamily="34" charset="0"/>
                <a:cs typeface="Times New Roman" panose="02020603050405020304" pitchFamily="18" charset="0"/>
              </a:rPr>
              <a:t>1. Physical Layer</a:t>
            </a:r>
          </a:p>
          <a:p>
            <a:pPr marL="0" marR="0">
              <a:lnSpc>
                <a:spcPct val="115000"/>
              </a:lnSpc>
              <a:spcAft>
                <a:spcPts val="800"/>
              </a:spcAf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The Physical Layer is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responsible for the </a:t>
            </a:r>
            <a:r>
              <a:rPr lang="en-US" sz="2000" b="1" i="1" u="sng" kern="100" dirty="0">
                <a:effectLst/>
                <a:latin typeface="Aptos" panose="020B0004020202020204" pitchFamily="34" charset="0"/>
                <a:ea typeface="Aptos" panose="020B0004020202020204" pitchFamily="34" charset="0"/>
                <a:cs typeface="Times New Roman" panose="02020603050405020304" pitchFamily="18" charset="0"/>
              </a:rPr>
              <a:t>physical connection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between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devices</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t>
            </a:r>
          </a:p>
          <a:p>
            <a:pPr marL="0" marR="0">
              <a:lnSpc>
                <a:spcPct val="115000"/>
              </a:lnSpc>
              <a:spcAft>
                <a:spcPts val="800"/>
              </a:spcAf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It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defines the </a:t>
            </a:r>
            <a:r>
              <a:rPr lang="en-US" sz="2000" b="1" i="1" u="sng" kern="100" dirty="0">
                <a:effectLst/>
                <a:latin typeface="Aptos" panose="020B0004020202020204" pitchFamily="34" charset="0"/>
                <a:ea typeface="Aptos" panose="020B0004020202020204" pitchFamily="34" charset="0"/>
                <a:cs typeface="Times New Roman" panose="02020603050405020304" pitchFamily="18" charset="0"/>
              </a:rPr>
              <a:t>hardware elements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involved in the network</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including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cables</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switches</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and other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physical components</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This layer also specifies the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electrical</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optical</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 and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radio</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 characteristics of the network.</a:t>
            </a:r>
          </a:p>
          <a:p>
            <a:pPr marL="0" marR="0">
              <a:lnSpc>
                <a:spcPct val="115000"/>
              </a:lnSpc>
              <a:spcAft>
                <a:spcPts val="800"/>
              </a:spcAf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Functions of the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Physical Layer include the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modulation</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 bit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synchronization</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 and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transmission of raw binary data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over the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physical medium</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Technologies such as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Fiber Optics </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and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Wi-Fi </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operate at this layer,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ensuring that the data physically moves from one device to another in the network</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a:t>
            </a:r>
          </a:p>
          <a:p>
            <a:pPr marL="0" indent="0">
              <a:lnSpc>
                <a:spcPct val="115000"/>
              </a:lnSpc>
              <a:spcAft>
                <a:spcPts val="800"/>
              </a:spcAft>
              <a:buNone/>
            </a:pPr>
            <a:endParaRPr lang="en-US" sz="2400" b="1" kern="100" dirty="0">
              <a:latin typeface="Aptos" panose="020B0004020202020204" pitchFamily="34" charset="0"/>
              <a:cs typeface="Times New Roman" panose="02020603050405020304" pitchFamily="18" charset="0"/>
            </a:endParaRPr>
          </a:p>
        </p:txBody>
      </p:sp>
      <p:pic>
        <p:nvPicPr>
          <p:cNvPr id="4" name="Picture 3" descr="physical layer">
            <a:extLst>
              <a:ext uri="{FF2B5EF4-FFF2-40B4-BE49-F238E27FC236}">
                <a16:creationId xmlns:a16="http://schemas.microsoft.com/office/drawing/2014/main" id="{2833FAA7-285F-FC1D-070C-9891D0E5014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41775" y="1155700"/>
            <a:ext cx="5657850" cy="1828800"/>
          </a:xfrm>
          <a:prstGeom prst="rect">
            <a:avLst/>
          </a:prstGeom>
          <a:noFill/>
          <a:ln>
            <a:noFill/>
          </a:ln>
        </p:spPr>
      </p:pic>
      <p:pic>
        <p:nvPicPr>
          <p:cNvPr id="5" name="Picture 4">
            <a:extLst>
              <a:ext uri="{FF2B5EF4-FFF2-40B4-BE49-F238E27FC236}">
                <a16:creationId xmlns:a16="http://schemas.microsoft.com/office/drawing/2014/main" id="{103C9D2A-ECA3-FC5F-C245-FCC81EB4EEFD}"/>
              </a:ext>
            </a:extLst>
          </p:cNvPr>
          <p:cNvPicPr>
            <a:picLocks noChangeAspect="1"/>
          </p:cNvPicPr>
          <p:nvPr/>
        </p:nvPicPr>
        <p:blipFill>
          <a:blip r:embed="rId3"/>
          <a:stretch>
            <a:fillRect/>
          </a:stretch>
        </p:blipFill>
        <p:spPr>
          <a:xfrm>
            <a:off x="9824400" y="111513"/>
            <a:ext cx="2025752" cy="2977016"/>
          </a:xfrm>
          <a:prstGeom prst="rect">
            <a:avLst/>
          </a:prstGeom>
        </p:spPr>
      </p:pic>
    </p:spTree>
    <p:extLst>
      <p:ext uri="{BB962C8B-B14F-4D97-AF65-F5344CB8AC3E}">
        <p14:creationId xmlns:p14="http://schemas.microsoft.com/office/powerpoint/2010/main" val="1374186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omputer screen shot of a computer&#10;&#10;AI-generated content may be incorrect.">
            <a:extLst>
              <a:ext uri="{FF2B5EF4-FFF2-40B4-BE49-F238E27FC236}">
                <a16:creationId xmlns:a16="http://schemas.microsoft.com/office/drawing/2014/main" id="{A1DD95AA-0CDE-38A4-A46D-48D5F072E9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514" y="79602"/>
            <a:ext cx="11930743" cy="6711043"/>
          </a:xfrm>
          <a:prstGeom prst="rect">
            <a:avLst/>
          </a:prstGeom>
        </p:spPr>
      </p:pic>
    </p:spTree>
    <p:extLst>
      <p:ext uri="{BB962C8B-B14F-4D97-AF65-F5344CB8AC3E}">
        <p14:creationId xmlns:p14="http://schemas.microsoft.com/office/powerpoint/2010/main" val="2779875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345DF-BEFF-DE1D-477E-C55744530D9C}"/>
            </a:ext>
          </a:extLst>
        </p:cNvPr>
        <p:cNvGrpSpPr/>
        <p:nvPr/>
      </p:nvGrpSpPr>
      <p:grpSpPr>
        <a:xfrm>
          <a:off x="0" y="0"/>
          <a:ext cx="0" cy="0"/>
          <a:chOff x="0" y="0"/>
          <a:chExt cx="0" cy="0"/>
        </a:xfrm>
      </p:grpSpPr>
      <p:pic>
        <p:nvPicPr>
          <p:cNvPr id="4" name="Picture 3" descr="A screen shot of a computer&#10;&#10;AI-generated content may be incorrect.">
            <a:extLst>
              <a:ext uri="{FF2B5EF4-FFF2-40B4-BE49-F238E27FC236}">
                <a16:creationId xmlns:a16="http://schemas.microsoft.com/office/drawing/2014/main" id="{8F6CD0B5-39AD-471A-EA22-27903723EE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629" y="73478"/>
            <a:ext cx="11908972" cy="6698797"/>
          </a:xfrm>
          <a:prstGeom prst="rect">
            <a:avLst/>
          </a:prstGeom>
        </p:spPr>
      </p:pic>
    </p:spTree>
    <p:extLst>
      <p:ext uri="{BB962C8B-B14F-4D97-AF65-F5344CB8AC3E}">
        <p14:creationId xmlns:p14="http://schemas.microsoft.com/office/powerpoint/2010/main" val="3898993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7651A-87C5-76DD-4FD6-E529712236AC}"/>
            </a:ext>
          </a:extLst>
        </p:cNvPr>
        <p:cNvGrpSpPr/>
        <p:nvPr/>
      </p:nvGrpSpPr>
      <p:grpSpPr>
        <a:xfrm>
          <a:off x="0" y="0"/>
          <a:ext cx="0" cy="0"/>
          <a:chOff x="0" y="0"/>
          <a:chExt cx="0" cy="0"/>
        </a:xfrm>
      </p:grpSpPr>
      <p:pic>
        <p:nvPicPr>
          <p:cNvPr id="3" name="Picture 2" descr="A diagram of a computer&#10;&#10;AI-generated content may be incorrect.">
            <a:extLst>
              <a:ext uri="{FF2B5EF4-FFF2-40B4-BE49-F238E27FC236}">
                <a16:creationId xmlns:a16="http://schemas.microsoft.com/office/drawing/2014/main" id="{ADDBD9E4-0607-79AE-1714-937F687C1E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514" y="79602"/>
            <a:ext cx="11876315" cy="6680427"/>
          </a:xfrm>
          <a:prstGeom prst="rect">
            <a:avLst/>
          </a:prstGeom>
        </p:spPr>
      </p:pic>
    </p:spTree>
    <p:extLst>
      <p:ext uri="{BB962C8B-B14F-4D97-AF65-F5344CB8AC3E}">
        <p14:creationId xmlns:p14="http://schemas.microsoft.com/office/powerpoint/2010/main" val="9387949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75B58-4083-7393-3EEF-7263B320B5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B5CE1F-FEFE-9DF7-7906-1992C6E553AA}"/>
              </a:ext>
            </a:extLst>
          </p:cNvPr>
          <p:cNvSpPr>
            <a:spLocks noGrp="1"/>
          </p:cNvSpPr>
          <p:nvPr>
            <p:ph type="title"/>
          </p:nvPr>
        </p:nvSpPr>
        <p:spPr>
          <a:xfrm>
            <a:off x="838200" y="365125"/>
            <a:ext cx="10515600" cy="892175"/>
          </a:xfrm>
        </p:spPr>
        <p:txBody>
          <a:bodyPr>
            <a:normAutofit/>
          </a:bodyPr>
          <a:lstStyle/>
          <a:p>
            <a:r>
              <a:rPr lang="en-US" sz="2800" dirty="0">
                <a:latin typeface="Aptos" panose="020B0004020202020204" pitchFamily="34" charset="0"/>
                <a:cs typeface="Times New Roman" panose="02020603050405020304" pitchFamily="18" charset="0"/>
              </a:rPr>
              <a:t>OSI vs. TCP/IP Model</a:t>
            </a:r>
          </a:p>
        </p:txBody>
      </p:sp>
      <p:pic>
        <p:nvPicPr>
          <p:cNvPr id="7" name="Content Placeholder 6">
            <a:extLst>
              <a:ext uri="{FF2B5EF4-FFF2-40B4-BE49-F238E27FC236}">
                <a16:creationId xmlns:a16="http://schemas.microsoft.com/office/drawing/2014/main" id="{14332CBD-2590-F543-F250-CC6BB77C0FF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60500" y="1004418"/>
            <a:ext cx="9499600" cy="5837751"/>
          </a:xfrm>
          <a:prstGeom prst="rect">
            <a:avLst/>
          </a:prstGeom>
          <a:noFill/>
        </p:spPr>
      </p:pic>
    </p:spTree>
    <p:extLst>
      <p:ext uri="{BB962C8B-B14F-4D97-AF65-F5344CB8AC3E}">
        <p14:creationId xmlns:p14="http://schemas.microsoft.com/office/powerpoint/2010/main" val="18697583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3924A-9FA2-396E-AAE0-EA4120FDA2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0EDFD8-1BA5-811A-3936-AAC743998B9D}"/>
              </a:ext>
            </a:extLst>
          </p:cNvPr>
          <p:cNvSpPr>
            <a:spLocks noGrp="1"/>
          </p:cNvSpPr>
          <p:nvPr>
            <p:ph type="title"/>
          </p:nvPr>
        </p:nvSpPr>
        <p:spPr>
          <a:xfrm>
            <a:off x="838200" y="0"/>
            <a:ext cx="10515600" cy="892175"/>
          </a:xfrm>
        </p:spPr>
        <p:txBody>
          <a:bodyPr>
            <a:normAutofit/>
          </a:bodyPr>
          <a:lstStyle/>
          <a:p>
            <a:r>
              <a:rPr lang="en-US" sz="2800" dirty="0">
                <a:latin typeface="Aptos" panose="020B000402020202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Transfer Control Protocol/Internet Protocol</a:t>
            </a:r>
            <a:r>
              <a:rPr lang="en-US" sz="2800" dirty="0">
                <a:latin typeface="Aptos" panose="020B0004020202020204" pitchFamily="34" charset="0"/>
                <a:cs typeface="Times New Roman" panose="02020603050405020304" pitchFamily="18" charset="0"/>
              </a:rPr>
              <a:t> (TCP/IP)</a:t>
            </a:r>
          </a:p>
        </p:txBody>
      </p:sp>
      <p:sp>
        <p:nvSpPr>
          <p:cNvPr id="3" name="Content Placeholder 2">
            <a:extLst>
              <a:ext uri="{FF2B5EF4-FFF2-40B4-BE49-F238E27FC236}">
                <a16:creationId xmlns:a16="http://schemas.microsoft.com/office/drawing/2014/main" id="{C30C40CD-6C50-659E-4CFA-829E35220A3B}"/>
              </a:ext>
            </a:extLst>
          </p:cNvPr>
          <p:cNvSpPr>
            <a:spLocks noGrp="1"/>
          </p:cNvSpPr>
          <p:nvPr>
            <p:ph idx="1"/>
          </p:nvPr>
        </p:nvSpPr>
        <p:spPr>
          <a:xfrm>
            <a:off x="749300" y="892175"/>
            <a:ext cx="10998200" cy="4829175"/>
          </a:xfrm>
        </p:spPr>
        <p:txBody>
          <a:bodyPr>
            <a:noAutofit/>
          </a:bodyPr>
          <a:lstStyle/>
          <a:p>
            <a:pPr marL="0" marR="0">
              <a:lnSpc>
                <a:spcPct val="115000"/>
              </a:lnSpc>
              <a:spcAft>
                <a:spcPts val="800"/>
              </a:spcAf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The </a:t>
            </a:r>
            <a:r>
              <a:rPr lang="en-US" sz="2000" b="1" u="sng" kern="100" dirty="0">
                <a:effectLst/>
                <a:latin typeface="Aptos" panose="020B0004020202020204" pitchFamily="34" charset="0"/>
                <a:ea typeface="Aptos" panose="020B0004020202020204" pitchFamily="34" charset="0"/>
                <a:cs typeface="Times New Roman" panose="02020603050405020304" pitchFamily="18" charset="0"/>
              </a:rPr>
              <a:t>Transfer Control Protocol/Internet Protocol</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 (TCP/IP) </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is older than the OSI model and was created by the US Department of Defense (DoD). A key difference between the models is that TCP/IP is simpler, collapsing several OSI layers into one:</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OSI</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layers 5, 6, 7 </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are combined into one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Application Layer in TCP/IP</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OSI layers 1, 2 </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are combined into one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Network Access Layer in TCP/IP </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u="sng" kern="100" dirty="0">
                <a:effectLst/>
                <a:latin typeface="Aptos" panose="020B0004020202020204" pitchFamily="34" charset="0"/>
                <a:ea typeface="Aptos" panose="020B0004020202020204" pitchFamily="34" charset="0"/>
                <a:cs typeface="Times New Roman" panose="02020603050405020304" pitchFamily="18" charset="0"/>
              </a:rPr>
              <a:t>however TCP/IP does not take responsibility for sequencing and acknowledgement functions, leaving these to the underlying transport layer.</a:t>
            </a:r>
          </a:p>
          <a:p>
            <a:pPr marL="0" marR="0">
              <a:lnSpc>
                <a:spcPct val="115000"/>
              </a:lnSpc>
              <a:spcAft>
                <a:spcPts val="800"/>
              </a:spcAf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Other important differences:</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TCP/IP is a functional model designed to solve specific communication problems, and which is based on specific, standard protocols. OSI is a generic, protocol-independent model intended to describe all forms of network communication.</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In TCP/IP, most applications use all the layers, while in OSI simple applications do not use all seven layers. Only layers 1, 2 and 3 are mandatory to enable any data communication.</a:t>
            </a:r>
          </a:p>
        </p:txBody>
      </p:sp>
    </p:spTree>
    <p:extLst>
      <p:ext uri="{BB962C8B-B14F-4D97-AF65-F5344CB8AC3E}">
        <p14:creationId xmlns:p14="http://schemas.microsoft.com/office/powerpoint/2010/main" val="3346009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232</TotalTime>
  <Words>1333</Words>
  <Application>Microsoft Office PowerPoint</Application>
  <PresentationFormat>Widescreen</PresentationFormat>
  <Paragraphs>69</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Symbol</vt:lpstr>
      <vt:lpstr>Office Theme</vt:lpstr>
      <vt:lpstr>Open Systems Interconnection (OSI) model </vt:lpstr>
      <vt:lpstr>Open Systems Interconnection (OSI) model </vt:lpstr>
      <vt:lpstr>Open Systems Interconnection (OSI) model </vt:lpstr>
      <vt:lpstr>Open Systems Interconnection (OSI) model </vt:lpstr>
      <vt:lpstr>Open Systems Interconnection (OSI) model </vt:lpstr>
      <vt:lpstr>Open Systems Interconnection (OSI) model </vt:lpstr>
      <vt:lpstr>Open Systems Interconnection (OSI) model </vt:lpstr>
      <vt:lpstr>PowerPoint Presentation</vt:lpstr>
      <vt:lpstr>Open Systems Interconnection (OSI) model </vt:lpstr>
      <vt:lpstr>PowerPoint Presentation</vt:lpstr>
      <vt:lpstr>Open Systems Interconnection (OSI) model </vt:lpstr>
      <vt:lpstr>PowerPoint Presentation</vt:lpstr>
      <vt:lpstr>Open Systems Interconnection (OSI) model </vt:lpstr>
      <vt:lpstr>PowerPoint Presentation</vt:lpstr>
      <vt:lpstr>PowerPoint Presentation</vt:lpstr>
      <vt:lpstr>PowerPoint Presentation</vt:lpstr>
      <vt:lpstr>OSI vs. TCP/IP Model</vt:lpstr>
      <vt:lpstr>Transfer Control Protocol/Internet Protocol (TCP/IP)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Kabir Humayun</dc:creator>
  <cp:lastModifiedBy>Kabir Humayun</cp:lastModifiedBy>
  <cp:revision>29</cp:revision>
  <dcterms:created xsi:type="dcterms:W3CDTF">2025-03-02T17:41:48Z</dcterms:created>
  <dcterms:modified xsi:type="dcterms:W3CDTF">2025-03-05T18:17:19Z</dcterms:modified>
</cp:coreProperties>
</file>